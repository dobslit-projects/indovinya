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6560"/>
            <a:ext cx="3474720" cy="3520440"/>
          </a:xfrm>
          <a:prstGeom prst="rect">
            <a:avLst/>
          </a:prstGeom>
          <a:solidFill>
            <a:srgbClr val="1DA1F2"/>
          </a:solidFill>
          <a:ln/>
        </p:spPr>
      </p:sp>
      <p:pic>
        <p:nvPicPr>
          <p:cNvPr id="3" name="Image 0" descr="C:\Users\Administrador\Desktop\Git Dobslit\Indorama\frontend\public\logo-indo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0" y="731520"/>
            <a:ext cx="45720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0"/>
            <a:ext cx="1371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ShelfLife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731520" y="4846320"/>
            <a:ext cx="1371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e Linha de Tendência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603504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 para Indovinya  ·  Abril de 2026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258800" y="9235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desenvolvido por</a:t>
            </a:r>
            <a:endParaRPr lang="en-US" sz="1100" dirty="0"/>
          </a:p>
        </p:txBody>
      </p:sp>
      <p:pic>
        <p:nvPicPr>
          <p:cNvPr id="8" name="Image 1" descr="C:\Users\Administrador\Desktop\Git Dobslit\Indorama\Relatorios\logo-dobsli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0" y="9464040"/>
            <a:ext cx="219456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0" y="0"/>
            <a:ext cx="2834640" cy="2834640"/>
          </a:xfrm>
          <a:prstGeom prst="rect">
            <a:avLst/>
          </a:prstGeom>
          <a:solidFill>
            <a:srgbClr val="2279DF"/>
          </a:solidFill>
          <a:ln/>
        </p:spPr>
      </p:sp>
      <p:pic>
        <p:nvPicPr>
          <p:cNvPr id="3" name="Image 0" descr="C:\Users\Administrador\Desktop\Git Dobslit\Indorama\frontend\public\logo-dobs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555480"/>
            <a:ext cx="128016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19120" y="9646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dobslit.com  ·  Abril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DESAFIO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1417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Problema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1417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Predizer shelf life de produtos químicos de forma confiável é custoso, demorado e pouco transparente.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31520" y="3474720"/>
            <a:ext cx="6949440" cy="2651760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3840480"/>
            <a:ext cx="365760" cy="365760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10" name="Text 7"/>
          <p:cNvSpPr/>
          <p:nvPr/>
        </p:nvSpPr>
        <p:spPr>
          <a:xfrm>
            <a:off x="1645920" y="37490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Ensaios longos e caros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188720" y="4480560"/>
            <a:ext cx="621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Estudos de estabilidade (acelerado + longa duração) consomem meses e recursos laboratoriais significativos.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955280" y="3474720"/>
            <a:ext cx="6949440" cy="2651760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21040" y="3840480"/>
            <a:ext cx="365760" cy="365760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14" name="Text 11"/>
          <p:cNvSpPr/>
          <p:nvPr/>
        </p:nvSpPr>
        <p:spPr>
          <a:xfrm>
            <a:off x="8869680" y="37490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Variáveis críticas desconhecidas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412480" y="4480560"/>
            <a:ext cx="621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é claro quais ensaios físico-químicos realmente dirigem o fim da vida útil — testa-se muito sem priorização.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31520" y="6400800"/>
            <a:ext cx="6949440" cy="2651760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7280" y="6766560"/>
            <a:ext cx="365760" cy="365760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66751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Famílias heterogêneas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188720" y="7406640"/>
            <a:ext cx="621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Produtos agrupados por família podem apresentar perfis de degradação distintos, mascarando comportamentos reais.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955280" y="6400800"/>
            <a:ext cx="6949440" cy="2651760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21040" y="6766560"/>
            <a:ext cx="365760" cy="365760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22" name="Text 19"/>
          <p:cNvSpPr/>
          <p:nvPr/>
        </p:nvSpPr>
        <p:spPr>
          <a:xfrm>
            <a:off x="8869680" y="66751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Decisões sem modelo explícito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412480" y="7406640"/>
            <a:ext cx="621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Regressões lineares simples por ensaio isolado não capturam não-linearidades nem integram múltiplos ensaios.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0" y="0"/>
            <a:ext cx="2834640" cy="2834640"/>
          </a:xfrm>
          <a:prstGeom prst="rect">
            <a:avLst/>
          </a:prstGeom>
          <a:solidFill>
            <a:srgbClr val="2279DF"/>
          </a:solidFill>
          <a:ln/>
        </p:spPr>
      </p:sp>
      <p:pic>
        <p:nvPicPr>
          <p:cNvPr id="3" name="Image 0" descr="C:\Users\Administrador\Desktop\Git Dobslit\Indorama\frontend\public\logo-dobs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555480"/>
            <a:ext cx="128016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19120" y="9646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dobslit.com  ·  Abril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PONTO DE PARTIDA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1417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recebidos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1417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Pacote de dados original fornecido pela Indovinya: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329184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14171A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3832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1005840" y="4343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Tipos de estudo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Acelerado + Longa Duração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329184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14171A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33832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~100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4663440" y="4343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Ensaios físico-químicos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6344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produto, múltiplas unidades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329184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14171A"/>
          </a:solidFill>
          <a:ln/>
        </p:spPr>
      </p:sp>
      <p:sp>
        <p:nvSpPr>
          <p:cNvPr id="17" name="Text 14"/>
          <p:cNvSpPr/>
          <p:nvPr/>
        </p:nvSpPr>
        <p:spPr>
          <a:xfrm>
            <a:off x="8321040" y="33832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36m</a:t>
            </a:r>
            <a:endParaRPr lang="en-US" sz="5200" dirty="0"/>
          </a:p>
        </p:txBody>
      </p:sp>
      <p:sp>
        <p:nvSpPr>
          <p:cNvPr id="18" name="Text 15"/>
          <p:cNvSpPr/>
          <p:nvPr/>
        </p:nvSpPr>
        <p:spPr>
          <a:xfrm>
            <a:off x="8321040" y="4343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Horizonte temporal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2104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0d · 1s · 2s · 1m … 36m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704320" y="329184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14171A"/>
          </a:solidFill>
          <a:ln/>
        </p:spPr>
      </p:sp>
      <p:sp>
        <p:nvSpPr>
          <p:cNvPr id="21" name="Text 18"/>
          <p:cNvSpPr/>
          <p:nvPr/>
        </p:nvSpPr>
        <p:spPr>
          <a:xfrm>
            <a:off x="11978640" y="33832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</a:t>
            </a:r>
            <a:endParaRPr lang="en-US" sz="5200" dirty="0"/>
          </a:p>
        </p:txBody>
      </p:sp>
      <p:sp>
        <p:nvSpPr>
          <p:cNvPr id="22" name="Text 19"/>
          <p:cNvSpPr/>
          <p:nvPr/>
        </p:nvSpPr>
        <p:spPr>
          <a:xfrm>
            <a:off x="11978640" y="4343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Produtos × Famílias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97864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Portfólio completo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1520" y="5760720"/>
            <a:ext cx="1417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Conteúdo detalhado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868680" y="6446520"/>
            <a:ext cx="164592" cy="164592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26" name="Text 23"/>
          <p:cNvSpPr/>
          <p:nvPr/>
        </p:nvSpPr>
        <p:spPr>
          <a:xfrm>
            <a:off x="1188720" y="630936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Planilhas por produto com valores medidos em cada timepoint e cenário de estudo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68680" y="6949440"/>
            <a:ext cx="164592" cy="164592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28" name="Text 25"/>
          <p:cNvSpPr/>
          <p:nvPr/>
        </p:nvSpPr>
        <p:spPr>
          <a:xfrm>
            <a:off x="1188720" y="681228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Especificações de aprovação por ensaio (ranges, limites simples, qualitativas)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68680" y="7452360"/>
            <a:ext cx="164592" cy="164592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30" name="Text 27"/>
          <p:cNvSpPr/>
          <p:nvPr/>
        </p:nvSpPr>
        <p:spPr>
          <a:xfrm>
            <a:off x="1188720" y="731520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Informações de família, categoria e identificação de produto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68680" y="7955280"/>
            <a:ext cx="164592" cy="164592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32" name="Text 29"/>
          <p:cNvSpPr/>
          <p:nvPr/>
        </p:nvSpPr>
        <p:spPr>
          <a:xfrm>
            <a:off x="1188720" y="78181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brutos — sem normalização de nomenclatura de ensaios, com heterogeneidades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0" y="0"/>
            <a:ext cx="2834640" cy="2834640"/>
          </a:xfrm>
          <a:prstGeom prst="rect">
            <a:avLst/>
          </a:prstGeom>
          <a:solidFill>
            <a:srgbClr val="2279DF"/>
          </a:solidFill>
          <a:ln/>
        </p:spPr>
      </p:sp>
      <p:pic>
        <p:nvPicPr>
          <p:cNvPr id="3" name="Image 0" descr="C:\Users\Administrador\Desktop\Git Dobslit\Indorama\frontend\public\logo-dobs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555480"/>
            <a:ext cx="128016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19120" y="9646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dobslit.com  ·  Abril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ATACAMOS O PROBLEMA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1417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Abordagem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1417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analítico que transforma dados brutos em insights acionáveis sobre shelf life.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3474720"/>
            <a:ext cx="320040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3E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474720"/>
            <a:ext cx="3200400" cy="137160"/>
          </a:xfrm>
          <a:prstGeom prst="rect">
            <a:avLst/>
          </a:prstGeom>
          <a:solidFill>
            <a:srgbClr val="2279DF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794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1005840" y="4846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Normalização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05840" y="5440680"/>
            <a:ext cx="731520" cy="0"/>
          </a:xfrm>
          <a:prstGeom prst="line">
            <a:avLst/>
          </a:prstGeom>
          <a:noFill/>
          <a:ln w="25400">
            <a:solidFill>
              <a:srgbClr val="2279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56235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De-para de ~100 ensaios originais para nomes canônicos. Parse de especificações (RANGE, LIMIT, QUALITATIVE).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37660" y="3474720"/>
            <a:ext cx="320040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3E8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37660" y="3474720"/>
            <a:ext cx="3200400" cy="137160"/>
          </a:xfrm>
          <a:prstGeom prst="rect">
            <a:avLst/>
          </a:prstGeom>
          <a:solidFill>
            <a:srgbClr val="2279DF"/>
          </a:solidFill>
          <a:ln/>
        </p:spPr>
      </p:sp>
      <p:sp>
        <p:nvSpPr>
          <p:cNvPr id="16" name="Text 13"/>
          <p:cNvSpPr/>
          <p:nvPr/>
        </p:nvSpPr>
        <p:spPr>
          <a:xfrm>
            <a:off x="4411980" y="3794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4411980" y="4846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Limpeza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411980" y="5440680"/>
            <a:ext cx="731520" cy="0"/>
          </a:xfrm>
          <a:prstGeom prst="line">
            <a:avLst/>
          </a:prstGeom>
          <a:noFill/>
          <a:ln w="25400">
            <a:solidFill>
              <a:srgbClr val="2279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11980" y="56235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Detecção de outliers por Z-score de resíduos. Tratamento de valores qualitativos e flags de 'menor que'.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543800" y="3474720"/>
            <a:ext cx="320040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3E8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43800" y="3474720"/>
            <a:ext cx="3200400" cy="137160"/>
          </a:xfrm>
          <a:prstGeom prst="rect">
            <a:avLst/>
          </a:prstGeom>
          <a:solidFill>
            <a:srgbClr val="2279DF"/>
          </a:solidFill>
          <a:ln/>
        </p:spPr>
      </p:sp>
      <p:sp>
        <p:nvSpPr>
          <p:cNvPr id="22" name="Text 19"/>
          <p:cNvSpPr/>
          <p:nvPr/>
        </p:nvSpPr>
        <p:spPr>
          <a:xfrm>
            <a:off x="7818120" y="3794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800" dirty="0"/>
          </a:p>
        </p:txBody>
      </p:sp>
      <p:sp>
        <p:nvSpPr>
          <p:cNvPr id="23" name="Text 20"/>
          <p:cNvSpPr/>
          <p:nvPr/>
        </p:nvSpPr>
        <p:spPr>
          <a:xfrm>
            <a:off x="7818120" y="4846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Modelagem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7818120" y="5440680"/>
            <a:ext cx="731520" cy="0"/>
          </a:xfrm>
          <a:prstGeom prst="line">
            <a:avLst/>
          </a:prstGeom>
          <a:noFill/>
          <a:ln w="25400">
            <a:solidFill>
              <a:srgbClr val="2279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18120" y="56235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 de 4 modelos por ensaio: Linear OLS, Exponencial, Logístico e Média. Seleção automática por adj-R² e AIC.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949940" y="3474720"/>
            <a:ext cx="320040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3E8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949940" y="3474720"/>
            <a:ext cx="3200400" cy="137160"/>
          </a:xfrm>
          <a:prstGeom prst="rect">
            <a:avLst/>
          </a:prstGeom>
          <a:solidFill>
            <a:srgbClr val="2279DF"/>
          </a:solidFill>
          <a:ln/>
        </p:spPr>
      </p:sp>
      <p:sp>
        <p:nvSpPr>
          <p:cNvPr id="28" name="Text 25"/>
          <p:cNvSpPr/>
          <p:nvPr/>
        </p:nvSpPr>
        <p:spPr>
          <a:xfrm>
            <a:off x="11224260" y="3794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800" dirty="0"/>
          </a:p>
        </p:txBody>
      </p:sp>
      <p:sp>
        <p:nvSpPr>
          <p:cNvPr id="29" name="Text 26"/>
          <p:cNvSpPr/>
          <p:nvPr/>
        </p:nvSpPr>
        <p:spPr>
          <a:xfrm>
            <a:off x="11224260" y="4846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Shelf life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11224260" y="5440680"/>
            <a:ext cx="731520" cy="0"/>
          </a:xfrm>
          <a:prstGeom prst="line">
            <a:avLst/>
          </a:prstGeom>
          <a:noFill/>
          <a:ln w="25400">
            <a:solidFill>
              <a:srgbClr val="2279D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224260" y="56235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Projeção até 60 meses. Cruzamento com especificação (two-sided / one-sided) e estimativa de erro sigma.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4356080" y="3474720"/>
            <a:ext cx="320040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3E8E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4356080" y="3474720"/>
            <a:ext cx="3200400" cy="137160"/>
          </a:xfrm>
          <a:prstGeom prst="rect">
            <a:avLst/>
          </a:prstGeom>
          <a:solidFill>
            <a:srgbClr val="2279DF"/>
          </a:solidFill>
          <a:ln/>
        </p:spPr>
      </p:sp>
      <p:sp>
        <p:nvSpPr>
          <p:cNvPr id="34" name="Text 31"/>
          <p:cNvSpPr/>
          <p:nvPr/>
        </p:nvSpPr>
        <p:spPr>
          <a:xfrm>
            <a:off x="14630400" y="3794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4800" dirty="0"/>
          </a:p>
        </p:txBody>
      </p:sp>
      <p:sp>
        <p:nvSpPr>
          <p:cNvPr id="35" name="Text 32"/>
          <p:cNvSpPr/>
          <p:nvPr/>
        </p:nvSpPr>
        <p:spPr>
          <a:xfrm>
            <a:off x="14630400" y="4846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Importância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14630400" y="5440680"/>
            <a:ext cx="731520" cy="0"/>
          </a:xfrm>
          <a:prstGeom prst="line">
            <a:avLst/>
          </a:prstGeom>
          <a:noFill/>
          <a:ln w="25400">
            <a:solidFill>
              <a:srgbClr val="2279D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4630400" y="56235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+ XGBoost em 3 cenários. Ranking de ensaios críticos por família e globais.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0" y="0"/>
            <a:ext cx="2834640" cy="2834640"/>
          </a:xfrm>
          <a:prstGeom prst="rect">
            <a:avLst/>
          </a:prstGeom>
          <a:solidFill>
            <a:srgbClr val="2279DF"/>
          </a:solidFill>
          <a:ln/>
        </p:spPr>
      </p:sp>
      <p:pic>
        <p:nvPicPr>
          <p:cNvPr id="3" name="Image 0" descr="C:\Users\Administrador\Desktop\Git Dobslit\Indorama\frontend\public\logo-dobs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555480"/>
            <a:ext cx="128016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19120" y="9646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dobslit.com  ·  Abril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DE TENDÊNCIA POR ENSAIO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1417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Modelagem estatística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731520" y="2926080"/>
            <a:ext cx="7772400" cy="6217920"/>
          </a:xfrm>
          <a:prstGeom prst="roundRect">
            <a:avLst>
              <a:gd name="adj" fmla="val 1471"/>
            </a:avLst>
          </a:prstGeom>
          <a:solidFill>
            <a:srgbClr val="F6F8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32004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Exemplo: ensaio vs tempo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36118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· exponencial · logístico · média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463040" y="8412480"/>
            <a:ext cx="6675120" cy="0"/>
          </a:xfrm>
          <a:prstGeom prst="line">
            <a:avLst/>
          </a:prstGeom>
          <a:noFill/>
          <a:ln w="12700">
            <a:solidFill>
              <a:srgbClr val="8A93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63040" y="4206240"/>
            <a:ext cx="0" cy="4206240"/>
          </a:xfrm>
          <a:prstGeom prst="line">
            <a:avLst/>
          </a:prstGeom>
          <a:noFill/>
          <a:ln w="12700">
            <a:solidFill>
              <a:srgbClr val="8A93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6304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4592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2880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1168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9456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7744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6032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2608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0896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9184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7472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84048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2336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0624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8912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7200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5488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3776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12064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0352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66928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85216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03504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21792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080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8368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76656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94944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3232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31520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49808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8096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86384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046720" y="47548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645920" y="4434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 máx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1737360" y="7789310"/>
            <a:ext cx="875211" cy="-68651"/>
          </a:xfrm>
          <a:prstGeom prst="line">
            <a:avLst/>
          </a:prstGeom>
          <a:noFill/>
          <a:ln w="38100">
            <a:solidFill>
              <a:srgbClr val="2279D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612571" y="7720660"/>
            <a:ext cx="875211" cy="-194439"/>
          </a:xfrm>
          <a:prstGeom prst="line">
            <a:avLst/>
          </a:prstGeom>
          <a:noFill/>
          <a:ln w="38100">
            <a:solidFill>
              <a:srgbClr val="2279D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487783" y="7526220"/>
            <a:ext cx="875211" cy="-459311"/>
          </a:xfrm>
          <a:prstGeom prst="line">
            <a:avLst/>
          </a:prstGeom>
          <a:noFill/>
          <a:ln w="38100">
            <a:solidFill>
              <a:srgbClr val="2279D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362994" y="7066910"/>
            <a:ext cx="875211" cy="-738059"/>
          </a:xfrm>
          <a:prstGeom prst="line">
            <a:avLst/>
          </a:prstGeom>
          <a:noFill/>
          <a:ln w="38100">
            <a:solidFill>
              <a:srgbClr val="2279D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238206" y="6328850"/>
            <a:ext cx="875211" cy="-675637"/>
          </a:xfrm>
          <a:prstGeom prst="line">
            <a:avLst/>
          </a:prstGeom>
          <a:noFill/>
          <a:ln w="38100">
            <a:solidFill>
              <a:srgbClr val="2279D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113417" y="5653213"/>
            <a:ext cx="875211" cy="-365657"/>
          </a:xfrm>
          <a:prstGeom prst="line">
            <a:avLst/>
          </a:prstGeom>
          <a:noFill/>
          <a:ln w="38100">
            <a:solidFill>
              <a:srgbClr val="2279D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988629" y="5287557"/>
            <a:ext cx="875211" cy="-144005"/>
          </a:xfrm>
          <a:prstGeom prst="line">
            <a:avLst/>
          </a:prstGeom>
          <a:noFill/>
          <a:ln w="38100">
            <a:solidFill>
              <a:srgbClr val="2279D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645920" y="7697870"/>
            <a:ext cx="182880" cy="182880"/>
          </a:xfrm>
          <a:prstGeom prst="ellipse">
            <a:avLst/>
          </a:prstGeom>
          <a:solidFill>
            <a:srgbClr val="2279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521131" y="7629220"/>
            <a:ext cx="182880" cy="182880"/>
          </a:xfrm>
          <a:prstGeom prst="ellipse">
            <a:avLst/>
          </a:prstGeom>
          <a:solidFill>
            <a:srgbClr val="2279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396343" y="7434780"/>
            <a:ext cx="182880" cy="182880"/>
          </a:xfrm>
          <a:prstGeom prst="ellipse">
            <a:avLst/>
          </a:prstGeom>
          <a:solidFill>
            <a:srgbClr val="2279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271554" y="6975470"/>
            <a:ext cx="182880" cy="182880"/>
          </a:xfrm>
          <a:prstGeom prst="ellipse">
            <a:avLst/>
          </a:prstGeom>
          <a:solidFill>
            <a:srgbClr val="2279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146766" y="6237410"/>
            <a:ext cx="182880" cy="182880"/>
          </a:xfrm>
          <a:prstGeom prst="ellipse">
            <a:avLst/>
          </a:prstGeom>
          <a:solidFill>
            <a:srgbClr val="2279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021977" y="5561773"/>
            <a:ext cx="182880" cy="182880"/>
          </a:xfrm>
          <a:prstGeom prst="ellipse">
            <a:avLst/>
          </a:prstGeom>
          <a:solidFill>
            <a:srgbClr val="2279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897189" y="5196117"/>
            <a:ext cx="182880" cy="182880"/>
          </a:xfrm>
          <a:prstGeom prst="ellipse">
            <a:avLst/>
          </a:prstGeom>
          <a:solidFill>
            <a:srgbClr val="2279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772400" y="5052112"/>
            <a:ext cx="182880" cy="182880"/>
          </a:xfrm>
          <a:prstGeom prst="ellipse">
            <a:avLst/>
          </a:prstGeom>
          <a:solidFill>
            <a:srgbClr val="2279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863840" y="5143552"/>
            <a:ext cx="82296" cy="0"/>
          </a:xfrm>
          <a:prstGeom prst="line">
            <a:avLst/>
          </a:prstGeom>
          <a:noFill/>
          <a:ln w="25400">
            <a:solidFill>
              <a:srgbClr val="2279D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028432" y="4793747"/>
            <a:ext cx="82296" cy="0"/>
          </a:xfrm>
          <a:prstGeom prst="line">
            <a:avLst/>
          </a:prstGeom>
          <a:noFill/>
          <a:ln w="25400">
            <a:solidFill>
              <a:srgbClr val="2279D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909560" y="4617720"/>
            <a:ext cx="274320" cy="2743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66928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shelf life estimado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1463040" y="85039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 (meses)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868680" y="6172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440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modelos candidatos</a:t>
            </a:r>
            <a:endParaRPr lang="en-US" sz="2200" dirty="0"/>
          </a:p>
        </p:txBody>
      </p:sp>
      <p:sp>
        <p:nvSpPr>
          <p:cNvPr id="72" name="Text 69"/>
          <p:cNvSpPr/>
          <p:nvPr/>
        </p:nvSpPr>
        <p:spPr>
          <a:xfrm>
            <a:off x="91440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Seleção automática pelo maior adj-R² (desempate por menor AIC).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9144000" y="4069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144000" y="4069080"/>
            <a:ext cx="137160" cy="822960"/>
          </a:xfrm>
          <a:prstGeom prst="rect">
            <a:avLst/>
          </a:prstGeom>
          <a:solidFill>
            <a:srgbClr val="2279DF"/>
          </a:solidFill>
          <a:ln/>
        </p:spPr>
      </p:sp>
      <p:sp>
        <p:nvSpPr>
          <p:cNvPr id="75" name="Text 72"/>
          <p:cNvSpPr/>
          <p:nvPr/>
        </p:nvSpPr>
        <p:spPr>
          <a:xfrm>
            <a:off x="946404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</a:t>
            </a:r>
            <a:endParaRPr lang="en-US" sz="1500" dirty="0"/>
          </a:p>
        </p:txBody>
      </p:sp>
      <p:sp>
        <p:nvSpPr>
          <p:cNvPr id="76" name="Text 73"/>
          <p:cNvSpPr/>
          <p:nvPr/>
        </p:nvSpPr>
        <p:spPr>
          <a:xfrm>
            <a:off x="9464040" y="4480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79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a + b·t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12801600" y="43251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Degradação constante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9144000" y="50292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144000" y="5029200"/>
            <a:ext cx="137160" cy="82296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80" name="Text 77"/>
          <p:cNvSpPr/>
          <p:nvPr/>
        </p:nvSpPr>
        <p:spPr>
          <a:xfrm>
            <a:off x="9464040" y="5120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Exponencial</a:t>
            </a:r>
            <a:endParaRPr lang="en-US" sz="1500" dirty="0"/>
          </a:p>
        </p:txBody>
      </p:sp>
      <p:sp>
        <p:nvSpPr>
          <p:cNvPr id="81" name="Text 78"/>
          <p:cNvSpPr/>
          <p:nvPr/>
        </p:nvSpPr>
        <p:spPr>
          <a:xfrm>
            <a:off x="9464040" y="5440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79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a·exp(b·t)</a:t>
            </a:r>
            <a:endParaRPr lang="en-US" sz="1200" dirty="0"/>
          </a:p>
        </p:txBody>
      </p:sp>
      <p:sp>
        <p:nvSpPr>
          <p:cNvPr id="82" name="Text 79"/>
          <p:cNvSpPr/>
          <p:nvPr/>
        </p:nvSpPr>
        <p:spPr>
          <a:xfrm>
            <a:off x="12801600" y="52852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Decaimento proporcional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9144000" y="5989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9144000" y="5989320"/>
            <a:ext cx="13716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5" name="Text 82"/>
          <p:cNvSpPr/>
          <p:nvPr/>
        </p:nvSpPr>
        <p:spPr>
          <a:xfrm>
            <a:off x="9464040" y="6080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Logístico</a:t>
            </a:r>
            <a:endParaRPr lang="en-US" sz="1500" dirty="0"/>
          </a:p>
        </p:txBody>
      </p:sp>
      <p:sp>
        <p:nvSpPr>
          <p:cNvPr id="86" name="Text 83"/>
          <p:cNvSpPr/>
          <p:nvPr/>
        </p:nvSpPr>
        <p:spPr>
          <a:xfrm>
            <a:off x="9464040" y="6400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79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L/(1 + e^(-k(t−t₀)))</a:t>
            </a:r>
            <a:endParaRPr lang="en-US" sz="1200" dirty="0"/>
          </a:p>
        </p:txBody>
      </p:sp>
      <p:sp>
        <p:nvSpPr>
          <p:cNvPr id="87" name="Text 84"/>
          <p:cNvSpPr/>
          <p:nvPr/>
        </p:nvSpPr>
        <p:spPr>
          <a:xfrm>
            <a:off x="12801600" y="62453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Platô e transição</a:t>
            </a:r>
            <a:endParaRPr lang="en-US" sz="1200" dirty="0"/>
          </a:p>
        </p:txBody>
      </p:sp>
      <p:sp>
        <p:nvSpPr>
          <p:cNvPr id="88" name="Shape 85"/>
          <p:cNvSpPr/>
          <p:nvPr/>
        </p:nvSpPr>
        <p:spPr>
          <a:xfrm>
            <a:off x="9144000" y="69494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9144000" y="6949440"/>
            <a:ext cx="137160" cy="822960"/>
          </a:xfrm>
          <a:prstGeom prst="rect">
            <a:avLst/>
          </a:prstGeom>
          <a:solidFill>
            <a:srgbClr val="8A93A0"/>
          </a:solidFill>
          <a:ln/>
        </p:spPr>
      </p:sp>
      <p:sp>
        <p:nvSpPr>
          <p:cNvPr id="90" name="Text 87"/>
          <p:cNvSpPr/>
          <p:nvPr/>
        </p:nvSpPr>
        <p:spPr>
          <a:xfrm>
            <a:off x="9464040" y="7040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</a:t>
            </a:r>
            <a:endParaRPr lang="en-US" sz="1500" dirty="0"/>
          </a:p>
        </p:txBody>
      </p:sp>
      <p:sp>
        <p:nvSpPr>
          <p:cNvPr id="91" name="Text 88"/>
          <p:cNvSpPr/>
          <p:nvPr/>
        </p:nvSpPr>
        <p:spPr>
          <a:xfrm>
            <a:off x="9464040" y="7360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79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média(y)</a:t>
            </a:r>
            <a:endParaRPr lang="en-US" sz="1200" dirty="0"/>
          </a:p>
        </p:txBody>
      </p:sp>
      <p:sp>
        <p:nvSpPr>
          <p:cNvPr id="92" name="Text 89"/>
          <p:cNvSpPr/>
          <p:nvPr/>
        </p:nvSpPr>
        <p:spPr>
          <a:xfrm>
            <a:off x="12801600" y="72054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Ensaios estáveis</a:t>
            </a:r>
            <a:endParaRPr lang="en-US" sz="1200" dirty="0"/>
          </a:p>
        </p:txBody>
      </p:sp>
      <p:sp>
        <p:nvSpPr>
          <p:cNvPr id="93" name="Text 90"/>
          <p:cNvSpPr/>
          <p:nvPr/>
        </p:nvSpPr>
        <p:spPr>
          <a:xfrm>
            <a:off x="9144000" y="8046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Detecção de outliers por Z-score de resíduos   ·   Intervalo de confiança sigma na projeção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0" y="0"/>
            <a:ext cx="2834640" cy="2834640"/>
          </a:xfrm>
          <a:prstGeom prst="rect">
            <a:avLst/>
          </a:prstGeom>
          <a:solidFill>
            <a:srgbClr val="2279DF"/>
          </a:solidFill>
          <a:ln/>
        </p:spPr>
      </p:sp>
      <p:pic>
        <p:nvPicPr>
          <p:cNvPr id="3" name="Image 0" descr="C:\Users\Administrador\Desktop\Git Dobslit\Indorama\frontend\public\logo-dobs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555480"/>
            <a:ext cx="128016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19120" y="9646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dobslit.com  ·  Abril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 ANÁLISE AO PRODUTO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1417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1417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 a metodologia encapsulada em uma aplicação web segura, multi-usuário e extensível.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371600" y="365760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6F8FB"/>
          </a:solidFill>
          <a:ln w="19050">
            <a:solidFill>
              <a:srgbClr val="E3E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71600" y="3657600"/>
            <a:ext cx="4572000" cy="27432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10" name="Text 7"/>
          <p:cNvSpPr/>
          <p:nvPr/>
        </p:nvSpPr>
        <p:spPr>
          <a:xfrm>
            <a:off x="1737360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737360" y="4572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Next.js 16 · React 19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783080" y="5440680"/>
            <a:ext cx="109728" cy="109728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13" name="Text 10"/>
          <p:cNvSpPr/>
          <p:nvPr/>
        </p:nvSpPr>
        <p:spPr>
          <a:xfrm>
            <a:off x="201168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multi-modo de ensaios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783080" y="5852160"/>
            <a:ext cx="109728" cy="109728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15" name="Text 12"/>
          <p:cNvSpPr/>
          <p:nvPr/>
        </p:nvSpPr>
        <p:spPr>
          <a:xfrm>
            <a:off x="2011680" y="5760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shelf life interativa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783080" y="6263640"/>
            <a:ext cx="109728" cy="109728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17" name="Text 14"/>
          <p:cNvSpPr/>
          <p:nvPr/>
        </p:nvSpPr>
        <p:spPr>
          <a:xfrm>
            <a:off x="201168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Galeria de relatórios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783080" y="6675120"/>
            <a:ext cx="109728" cy="109728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19" name="Text 16"/>
          <p:cNvSpPr/>
          <p:nvPr/>
        </p:nvSpPr>
        <p:spPr>
          <a:xfrm>
            <a:off x="2011680" y="6583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 + gestão de usuários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783080" y="7086600"/>
            <a:ext cx="109728" cy="109728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21" name="Text 18"/>
          <p:cNvSpPr/>
          <p:nvPr/>
        </p:nvSpPr>
        <p:spPr>
          <a:xfrm>
            <a:off x="2011680" y="6995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 tracking de uso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92240" y="365760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6F8FB"/>
          </a:solidFill>
          <a:ln w="19050">
            <a:solidFill>
              <a:srgbClr val="E3E8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92240" y="3657600"/>
            <a:ext cx="4572000" cy="274320"/>
          </a:xfrm>
          <a:prstGeom prst="rect">
            <a:avLst/>
          </a:prstGeom>
          <a:solidFill>
            <a:srgbClr val="2279DF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58000" y="4572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 · Python 3.12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6903720" y="5440680"/>
            <a:ext cx="109728" cy="109728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27" name="Text 24"/>
          <p:cNvSpPr/>
          <p:nvPr/>
        </p:nvSpPr>
        <p:spPr>
          <a:xfrm>
            <a:off x="713232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Fitting de 4 modelos (NumPy/SciPy)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903720" y="5852160"/>
            <a:ext cx="109728" cy="109728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29" name="Text 26"/>
          <p:cNvSpPr/>
          <p:nvPr/>
        </p:nvSpPr>
        <p:spPr>
          <a:xfrm>
            <a:off x="7132320" y="5760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Seleção automática (adj-R² + AIC)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903720" y="6263640"/>
            <a:ext cx="109728" cy="109728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31" name="Text 28"/>
          <p:cNvSpPr/>
          <p:nvPr/>
        </p:nvSpPr>
        <p:spPr>
          <a:xfrm>
            <a:off x="713232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Detecção de outliers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903720" y="6675120"/>
            <a:ext cx="109728" cy="109728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33" name="Text 30"/>
          <p:cNvSpPr/>
          <p:nvPr/>
        </p:nvSpPr>
        <p:spPr>
          <a:xfrm>
            <a:off x="7132320" y="6583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Cálculo de shelf life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903720" y="7086600"/>
            <a:ext cx="109728" cy="109728"/>
          </a:xfrm>
          <a:prstGeom prst="ellipse">
            <a:avLst/>
          </a:prstGeom>
          <a:solidFill>
            <a:srgbClr val="2279DF"/>
          </a:solidFill>
          <a:ln/>
        </p:spPr>
      </p:sp>
      <p:sp>
        <p:nvSpPr>
          <p:cNvPr id="35" name="Text 32"/>
          <p:cNvSpPr/>
          <p:nvPr/>
        </p:nvSpPr>
        <p:spPr>
          <a:xfrm>
            <a:off x="7132320" y="6995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REST documentada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11612880" y="365760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14171A"/>
          </a:solidFill>
          <a:ln/>
        </p:spPr>
      </p:sp>
      <p:sp>
        <p:nvSpPr>
          <p:cNvPr id="37" name="Shape 34"/>
          <p:cNvSpPr/>
          <p:nvPr/>
        </p:nvSpPr>
        <p:spPr>
          <a:xfrm>
            <a:off x="11612880" y="3657600"/>
            <a:ext cx="4572000" cy="27432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38" name="Text 35"/>
          <p:cNvSpPr/>
          <p:nvPr/>
        </p:nvSpPr>
        <p:spPr>
          <a:xfrm>
            <a:off x="11978640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&amp; AUTH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978640" y="4572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Supabase · PostgreSQL</a:t>
            </a:r>
            <a:endParaRPr lang="en-US" sz="2200" dirty="0"/>
          </a:p>
        </p:txBody>
      </p:sp>
      <p:sp>
        <p:nvSpPr>
          <p:cNvPr id="40" name="Shape 37"/>
          <p:cNvSpPr/>
          <p:nvPr/>
        </p:nvSpPr>
        <p:spPr>
          <a:xfrm>
            <a:off x="12024360" y="5440680"/>
            <a:ext cx="109728" cy="109728"/>
          </a:xfrm>
          <a:prstGeom prst="ellipse">
            <a:avLst/>
          </a:prstGeom>
          <a:solidFill>
            <a:srgbClr val="1DA1F2"/>
          </a:solidFill>
          <a:ln/>
        </p:spPr>
      </p:sp>
      <p:sp>
        <p:nvSpPr>
          <p:cNvPr id="41" name="Text 38"/>
          <p:cNvSpPr/>
          <p:nvPr/>
        </p:nvSpPr>
        <p:spPr>
          <a:xfrm>
            <a:off x="1225296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Persistência dos ensaios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12024360" y="5852160"/>
            <a:ext cx="109728" cy="109728"/>
          </a:xfrm>
          <a:prstGeom prst="ellipse">
            <a:avLst/>
          </a:prstGeom>
          <a:solidFill>
            <a:srgbClr val="1DA1F2"/>
          </a:solidFill>
          <a:ln/>
        </p:spPr>
      </p:sp>
      <p:sp>
        <p:nvSpPr>
          <p:cNvPr id="43" name="Text 40"/>
          <p:cNvSpPr/>
          <p:nvPr/>
        </p:nvSpPr>
        <p:spPr>
          <a:xfrm>
            <a:off x="12252960" y="5760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Autenticação + roles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12024360" y="6263640"/>
            <a:ext cx="109728" cy="109728"/>
          </a:xfrm>
          <a:prstGeom prst="ellipse">
            <a:avLst/>
          </a:prstGeom>
          <a:solidFill>
            <a:srgbClr val="1DA1F2"/>
          </a:solidFill>
          <a:ln/>
        </p:spPr>
      </p:sp>
      <p:sp>
        <p:nvSpPr>
          <p:cNvPr id="45" name="Text 42"/>
          <p:cNvSpPr/>
          <p:nvPr/>
        </p:nvSpPr>
        <p:spPr>
          <a:xfrm>
            <a:off x="1225296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Convites por link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12024360" y="6675120"/>
            <a:ext cx="109728" cy="109728"/>
          </a:xfrm>
          <a:prstGeom prst="ellipse">
            <a:avLst/>
          </a:prstGeom>
          <a:solidFill>
            <a:srgbClr val="1DA1F2"/>
          </a:solidFill>
          <a:ln/>
        </p:spPr>
      </p:sp>
      <p:sp>
        <p:nvSpPr>
          <p:cNvPr id="47" name="Text 44"/>
          <p:cNvSpPr/>
          <p:nvPr/>
        </p:nvSpPr>
        <p:spPr>
          <a:xfrm>
            <a:off x="12252960" y="6583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Tracking de eventos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12024360" y="7086600"/>
            <a:ext cx="109728" cy="109728"/>
          </a:xfrm>
          <a:prstGeom prst="ellipse">
            <a:avLst/>
          </a:prstGeom>
          <a:solidFill>
            <a:srgbClr val="1DA1F2"/>
          </a:solidFill>
          <a:ln/>
        </p:spPr>
      </p:sp>
      <p:sp>
        <p:nvSpPr>
          <p:cNvPr id="49" name="Text 46"/>
          <p:cNvSpPr/>
          <p:nvPr/>
        </p:nvSpPr>
        <p:spPr>
          <a:xfrm>
            <a:off x="12252960" y="6995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Row-level security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6080760" y="5577840"/>
            <a:ext cx="274320" cy="274320"/>
          </a:xfrm>
          <a:prstGeom prst="chevron">
            <a:avLst/>
          </a:prstGeom>
          <a:solidFill>
            <a:srgbClr val="2279DF"/>
          </a:solidFill>
          <a:ln/>
        </p:spPr>
      </p:sp>
      <p:sp>
        <p:nvSpPr>
          <p:cNvPr id="51" name="Shape 48"/>
          <p:cNvSpPr/>
          <p:nvPr/>
        </p:nvSpPr>
        <p:spPr>
          <a:xfrm>
            <a:off x="11201400" y="5577840"/>
            <a:ext cx="274320" cy="274320"/>
          </a:xfrm>
          <a:prstGeom prst="chevron">
            <a:avLst/>
          </a:prstGeom>
          <a:solidFill>
            <a:srgbClr val="2279DF"/>
          </a:solidFill>
          <a:ln/>
        </p:spPr>
      </p:sp>
      <p:sp>
        <p:nvSpPr>
          <p:cNvPr id="52" name="Text 49"/>
          <p:cNvSpPr/>
          <p:nvPr/>
        </p:nvSpPr>
        <p:spPr>
          <a:xfrm>
            <a:off x="731520" y="8595360"/>
            <a:ext cx="1682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Orquestrado em Docker Compose  ·  Deploy cloud-ready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0" y="0"/>
            <a:ext cx="2834640" cy="2834640"/>
          </a:xfrm>
          <a:prstGeom prst="rect">
            <a:avLst/>
          </a:prstGeom>
          <a:solidFill>
            <a:srgbClr val="2279DF"/>
          </a:solidFill>
          <a:ln/>
        </p:spPr>
      </p:sp>
      <p:pic>
        <p:nvPicPr>
          <p:cNvPr id="3" name="Image 0" descr="C:\Users\Administrador\Desktop\Git Dobslit\Indorama\frontend\public\logo-dobs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555480"/>
            <a:ext cx="128016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19120" y="9646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dobslit.com  ·  Abril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· MÓDULO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1417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de ensaios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1417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Exploração temporal dos ensaios por produto ou família, com filtros dinâmicos e visualizações comparativas.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3474720"/>
            <a:ext cx="14173200" cy="5760720"/>
          </a:xfrm>
          <a:prstGeom prst="roundRect">
            <a:avLst>
              <a:gd name="adj" fmla="val 1905"/>
            </a:avLst>
          </a:prstGeom>
          <a:solidFill>
            <a:srgbClr val="14171A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3474720"/>
            <a:ext cx="14173200" cy="411480"/>
          </a:xfrm>
          <a:prstGeom prst="rect">
            <a:avLst/>
          </a:prstGeom>
          <a:solidFill>
            <a:srgbClr val="1F2428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593592"/>
            <a:ext cx="182880" cy="182880"/>
          </a:xfrm>
          <a:prstGeom prst="ellipse">
            <a:avLst/>
          </a:prstGeom>
          <a:solidFill>
            <a:srgbClr val="F77272"/>
          </a:solidFill>
          <a:ln/>
        </p:spPr>
      </p:sp>
      <p:sp>
        <p:nvSpPr>
          <p:cNvPr id="11" name="Shape 8"/>
          <p:cNvSpPr/>
          <p:nvPr/>
        </p:nvSpPr>
        <p:spPr>
          <a:xfrm>
            <a:off x="1188720" y="3593592"/>
            <a:ext cx="182880" cy="182880"/>
          </a:xfrm>
          <a:prstGeom prst="ellipse">
            <a:avLst/>
          </a:prstGeom>
          <a:solidFill>
            <a:srgbClr val="F7D072"/>
          </a:solidFill>
          <a:ln/>
        </p:spPr>
      </p:sp>
      <p:sp>
        <p:nvSpPr>
          <p:cNvPr id="12" name="Shape 9"/>
          <p:cNvSpPr/>
          <p:nvPr/>
        </p:nvSpPr>
        <p:spPr>
          <a:xfrm>
            <a:off x="1463040" y="3593592"/>
            <a:ext cx="182880" cy="182880"/>
          </a:xfrm>
          <a:prstGeom prst="ellipse">
            <a:avLst/>
          </a:prstGeom>
          <a:solidFill>
            <a:srgbClr val="78C97A"/>
          </a:solidFill>
          <a:ln/>
        </p:spPr>
      </p:sp>
      <p:sp>
        <p:nvSpPr>
          <p:cNvPr id="13" name="Text 10"/>
          <p:cNvSpPr/>
          <p:nvPr/>
        </p:nvSpPr>
        <p:spPr>
          <a:xfrm>
            <a:off x="201168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dobslit.indorama.com/dashboard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" y="3886200"/>
            <a:ext cx="14173200" cy="548640"/>
          </a:xfrm>
          <a:prstGeom prst="rect">
            <a:avLst/>
          </a:prstGeom>
          <a:solidFill>
            <a:srgbClr val="1A1E22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39502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Ensaios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05840" y="4361688"/>
            <a:ext cx="1005840" cy="4572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17" name="Text 14"/>
          <p:cNvSpPr/>
          <p:nvPr/>
        </p:nvSpPr>
        <p:spPr>
          <a:xfrm>
            <a:off x="2468880" y="39502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14400" y="4617720"/>
            <a:ext cx="2926080" cy="4434840"/>
          </a:xfrm>
          <a:prstGeom prst="roundRect">
            <a:avLst>
              <a:gd name="adj" fmla="val 2500"/>
            </a:avLst>
          </a:prstGeom>
          <a:solidFill>
            <a:srgbClr val="1A1E22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4800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FILTROS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97280" y="5257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97280" y="553212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2279DF"/>
          </a:solidFill>
          <a:ln/>
        </p:spPr>
      </p:sp>
      <p:sp>
        <p:nvSpPr>
          <p:cNvPr id="22" name="Text 19"/>
          <p:cNvSpPr/>
          <p:nvPr/>
        </p:nvSpPr>
        <p:spPr>
          <a:xfrm>
            <a:off x="1234440" y="55504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Longa duração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97280" y="6035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Família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097280" y="630936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262B30"/>
          </a:solidFill>
          <a:ln/>
        </p:spPr>
      </p:sp>
      <p:sp>
        <p:nvSpPr>
          <p:cNvPr id="25" name="Text 22"/>
          <p:cNvSpPr/>
          <p:nvPr/>
        </p:nvSpPr>
        <p:spPr>
          <a:xfrm>
            <a:off x="1234440" y="6327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Surfom CS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97280" y="6812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97280" y="708660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262B30"/>
          </a:solidFill>
          <a:ln/>
        </p:spPr>
      </p:sp>
      <p:sp>
        <p:nvSpPr>
          <p:cNvPr id="28" name="Text 25"/>
          <p:cNvSpPr/>
          <p:nvPr/>
        </p:nvSpPr>
        <p:spPr>
          <a:xfrm>
            <a:off x="1234440" y="71048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(todos)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97280" y="7589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Ensaio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097280" y="786384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262B30"/>
          </a:solidFill>
          <a:ln/>
        </p:spPr>
      </p:sp>
      <p:sp>
        <p:nvSpPr>
          <p:cNvPr id="31" name="Text 28"/>
          <p:cNvSpPr/>
          <p:nvPr/>
        </p:nvSpPr>
        <p:spPr>
          <a:xfrm>
            <a:off x="1234440" y="7882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 APHA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023360" y="4617720"/>
            <a:ext cx="10698480" cy="4434840"/>
          </a:xfrm>
          <a:prstGeom prst="roundRect">
            <a:avLst>
              <a:gd name="adj" fmla="val 1649"/>
            </a:avLst>
          </a:prstGeom>
          <a:solidFill>
            <a:srgbClr val="1A1E22"/>
          </a:solidFill>
          <a:ln/>
        </p:spPr>
      </p:sp>
      <p:sp>
        <p:nvSpPr>
          <p:cNvPr id="33" name="Text 30"/>
          <p:cNvSpPr/>
          <p:nvPr/>
        </p:nvSpPr>
        <p:spPr>
          <a:xfrm>
            <a:off x="4297680" y="48006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 APHA — Longa Duração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297680" y="52120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produtos · família Surfom CS · overlay média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0" y="8595360"/>
            <a:ext cx="9601200" cy="0"/>
          </a:xfrm>
          <a:prstGeom prst="line">
            <a:avLst/>
          </a:prstGeom>
          <a:noFill/>
          <a:ln w="12700">
            <a:solidFill>
              <a:srgbClr val="3A424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0" y="5806440"/>
            <a:ext cx="0" cy="2788920"/>
          </a:xfrm>
          <a:prstGeom prst="line">
            <a:avLst/>
          </a:prstGeom>
          <a:noFill/>
          <a:ln w="12700">
            <a:solidFill>
              <a:srgbClr val="3A424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72000" y="6503670"/>
            <a:ext cx="9601200" cy="0"/>
          </a:xfrm>
          <a:prstGeom prst="line">
            <a:avLst/>
          </a:prstGeom>
          <a:noFill/>
          <a:ln w="6350">
            <a:solidFill>
              <a:srgbClr val="262B3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72000" y="7200900"/>
            <a:ext cx="9601200" cy="0"/>
          </a:xfrm>
          <a:prstGeom prst="line">
            <a:avLst/>
          </a:prstGeom>
          <a:noFill/>
          <a:ln w="6350">
            <a:solidFill>
              <a:srgbClr val="262B3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72000" y="7898130"/>
            <a:ext cx="9601200" cy="0"/>
          </a:xfrm>
          <a:prstGeom prst="line">
            <a:avLst/>
          </a:prstGeom>
          <a:noFill/>
          <a:ln w="6350">
            <a:solidFill>
              <a:srgbClr val="262B3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572000" y="8177022"/>
            <a:ext cx="1200150" cy="-268179"/>
          </a:xfrm>
          <a:prstGeom prst="line">
            <a:avLst/>
          </a:prstGeom>
          <a:noFill/>
          <a:ln w="25400">
            <a:solidFill>
              <a:srgbClr val="4F8EF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772150" y="7908843"/>
            <a:ext cx="1200150" cy="-181874"/>
          </a:xfrm>
          <a:prstGeom prst="line">
            <a:avLst/>
          </a:prstGeom>
          <a:noFill/>
          <a:ln w="25400">
            <a:solidFill>
              <a:srgbClr val="4F8EF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972300" y="7726969"/>
            <a:ext cx="1200150" cy="-88612"/>
          </a:xfrm>
          <a:prstGeom prst="line">
            <a:avLst/>
          </a:prstGeom>
          <a:noFill/>
          <a:ln w="25400">
            <a:solidFill>
              <a:srgbClr val="4F8EF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172450" y="7638357"/>
            <a:ext cx="1200150" cy="-74138"/>
          </a:xfrm>
          <a:prstGeom prst="line">
            <a:avLst/>
          </a:prstGeom>
          <a:noFill/>
          <a:ln w="25400">
            <a:solidFill>
              <a:srgbClr val="4F8EF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372600" y="7564218"/>
            <a:ext cx="1200150" cy="-151759"/>
          </a:xfrm>
          <a:prstGeom prst="line">
            <a:avLst/>
          </a:prstGeom>
          <a:noFill/>
          <a:ln w="25400">
            <a:solidFill>
              <a:srgbClr val="4F8EF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572750" y="7412459"/>
            <a:ext cx="1200150" cy="-250111"/>
          </a:xfrm>
          <a:prstGeom prst="line">
            <a:avLst/>
          </a:prstGeom>
          <a:noFill/>
          <a:ln w="25400">
            <a:solidFill>
              <a:srgbClr val="4F8EF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1772900" y="7162348"/>
            <a:ext cx="1200150" cy="-278770"/>
          </a:xfrm>
          <a:prstGeom prst="line">
            <a:avLst/>
          </a:prstGeom>
          <a:noFill/>
          <a:ln w="25400">
            <a:solidFill>
              <a:srgbClr val="4F8EF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2973050" y="6883578"/>
            <a:ext cx="1200150" cy="-211386"/>
          </a:xfrm>
          <a:prstGeom prst="line">
            <a:avLst/>
          </a:prstGeom>
          <a:noFill/>
          <a:ln w="25400">
            <a:solidFill>
              <a:srgbClr val="4F8EF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572000" y="7943704"/>
            <a:ext cx="1200150" cy="-209763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772150" y="7733941"/>
            <a:ext cx="1200150" cy="-116501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972300" y="7617440"/>
            <a:ext cx="1200150" cy="-102027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172450" y="7515412"/>
            <a:ext cx="1200150" cy="-179649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372600" y="7335764"/>
            <a:ext cx="1200150" cy="-278001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572750" y="7057763"/>
            <a:ext cx="1200150" cy="-306659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1772900" y="6751104"/>
            <a:ext cx="1200150" cy="-239275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2973050" y="6511829"/>
            <a:ext cx="1200150" cy="-13780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572000" y="7796692"/>
            <a:ext cx="1200150" cy="-14439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772150" y="7652301"/>
            <a:ext cx="1200150" cy="-129917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972300" y="7522385"/>
            <a:ext cx="1200150" cy="-207538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172450" y="7314847"/>
            <a:ext cx="1200150" cy="-30589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372600" y="7008957"/>
            <a:ext cx="1200150" cy="-334548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572750" y="6674409"/>
            <a:ext cx="1200150" cy="-267164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1772900" y="6407245"/>
            <a:ext cx="1200150" cy="-165691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2973050" y="6241554"/>
            <a:ext cx="1200150" cy="-123422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572000" y="7742941"/>
            <a:ext cx="1200150" cy="-157806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772150" y="7585135"/>
            <a:ext cx="1200150" cy="-235427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972300" y="7349708"/>
            <a:ext cx="1200150" cy="-333779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172450" y="7015929"/>
            <a:ext cx="1200150" cy="-362437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9372600" y="6653492"/>
            <a:ext cx="1200150" cy="-295053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0572750" y="6358439"/>
            <a:ext cx="1200150" cy="-19358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1772900" y="6164859"/>
            <a:ext cx="1200150" cy="-151311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2973050" y="6013548"/>
            <a:ext cx="1200150" cy="-207109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4572000" y="7703664"/>
            <a:ext cx="1200150" cy="-263316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772150" y="7440348"/>
            <a:ext cx="1200150" cy="-36166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972300" y="7078680"/>
            <a:ext cx="1200150" cy="-390326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172450" y="6688354"/>
            <a:ext cx="1200150" cy="-322943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372600" y="6365411"/>
            <a:ext cx="1200150" cy="-221469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0572750" y="6143942"/>
            <a:ext cx="1200150" cy="-17920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11772900" y="5964741"/>
            <a:ext cx="1200150" cy="-23499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2973050" y="5729744"/>
            <a:ext cx="1200150" cy="-33756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4572000" y="8037576"/>
            <a:ext cx="1200150" cy="-191738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772150" y="7845838"/>
            <a:ext cx="1200150" cy="-191738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972300" y="7654099"/>
            <a:ext cx="1200150" cy="-191738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172450" y="7462361"/>
            <a:ext cx="1200150" cy="-191738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9372600" y="7270623"/>
            <a:ext cx="1200150" cy="-191738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0572750" y="7078885"/>
            <a:ext cx="1200150" cy="-191738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1772900" y="6887146"/>
            <a:ext cx="1200150" cy="-191738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12973050" y="6695408"/>
            <a:ext cx="1200150" cy="-191738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297680" y="5532120"/>
            <a:ext cx="2286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6"/>
          <p:cNvSpPr/>
          <p:nvPr/>
        </p:nvSpPr>
        <p:spPr>
          <a:xfrm>
            <a:off x="4572000" y="5422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 da família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0" y="0"/>
            <a:ext cx="2834640" cy="2834640"/>
          </a:xfrm>
          <a:prstGeom prst="rect">
            <a:avLst/>
          </a:prstGeom>
          <a:solidFill>
            <a:srgbClr val="2279DF"/>
          </a:solidFill>
          <a:ln/>
        </p:spPr>
      </p:sp>
      <p:pic>
        <p:nvPicPr>
          <p:cNvPr id="3" name="Image 0" descr="C:\Users\Administrador\Desktop\Git Dobslit\Indorama\frontend\public\logo-dobs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555480"/>
            <a:ext cx="128016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19120" y="9646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dobslit.com  ·  Abril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· MÓDULO 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1417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shelf life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1417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 automático, comparação de modelos, projeção e cálculo de shelf life com detecção de outliers.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3474720"/>
            <a:ext cx="14173200" cy="5760720"/>
          </a:xfrm>
          <a:prstGeom prst="roundRect">
            <a:avLst>
              <a:gd name="adj" fmla="val 1905"/>
            </a:avLst>
          </a:prstGeom>
          <a:solidFill>
            <a:srgbClr val="14171A"/>
          </a:solidFill>
          <a:ln/>
        </p:spPr>
      </p:sp>
      <p:sp>
        <p:nvSpPr>
          <p:cNvPr id="9" name="Shape 6"/>
          <p:cNvSpPr/>
          <p:nvPr/>
        </p:nvSpPr>
        <p:spPr>
          <a:xfrm>
            <a:off x="1188720" y="4023360"/>
            <a:ext cx="8686800" cy="4663440"/>
          </a:xfrm>
          <a:prstGeom prst="roundRect">
            <a:avLst>
              <a:gd name="adj" fmla="val 1569"/>
            </a:avLst>
          </a:prstGeom>
          <a:solidFill>
            <a:srgbClr val="1A1E22"/>
          </a:solidFill>
          <a:ln/>
        </p:spPr>
      </p:sp>
      <p:sp>
        <p:nvSpPr>
          <p:cNvPr id="10" name="Text 7"/>
          <p:cNvSpPr/>
          <p:nvPr/>
        </p:nvSpPr>
        <p:spPr>
          <a:xfrm>
            <a:off x="1463040" y="42519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Viscosidade dinâmica — Produto SURFOM CS 8216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63040" y="46634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selecionado: Logístico · adj-R² = 0.94 · shelf life estimado: 28.3 meses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737360" y="8138160"/>
            <a:ext cx="7589520" cy="0"/>
          </a:xfrm>
          <a:prstGeom prst="line">
            <a:avLst/>
          </a:prstGeom>
          <a:noFill/>
          <a:ln w="12700">
            <a:solidFill>
              <a:srgbClr val="3A424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37360" y="5303520"/>
            <a:ext cx="0" cy="2834640"/>
          </a:xfrm>
          <a:prstGeom prst="line">
            <a:avLst/>
          </a:prstGeom>
          <a:noFill/>
          <a:ln w="12700">
            <a:solidFill>
              <a:srgbClr val="3A424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37360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01952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66544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31136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395728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24912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889504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54096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18688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83280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47872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12464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77056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041648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06240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370832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35424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00016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64608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29200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193792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58384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522976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687568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852160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16752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181344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45936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10528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675120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839712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04304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168896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333488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498080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662672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827264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991856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156448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321040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485632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650224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814816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979408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144000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308592" y="5760720"/>
            <a:ext cx="91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874520" y="5440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 máx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2011680" y="7612138"/>
            <a:ext cx="180535" cy="-15848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192215" y="7596289"/>
            <a:ext cx="180535" cy="-18174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372751" y="7578116"/>
            <a:ext cx="180535" cy="-20785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553286" y="7557331"/>
            <a:ext cx="180535" cy="-23700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33822" y="7533630"/>
            <a:ext cx="180535" cy="-26932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914357" y="7506699"/>
            <a:ext cx="180535" cy="-30484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094892" y="7476215"/>
            <a:ext cx="180535" cy="-34353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75428" y="7441861"/>
            <a:ext cx="180535" cy="-38521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455963" y="7403340"/>
            <a:ext cx="180535" cy="-42954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636498" y="7360386"/>
            <a:ext cx="180535" cy="-47600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817034" y="7312786"/>
            <a:ext cx="180535" cy="-52387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997569" y="7260400"/>
            <a:ext cx="180535" cy="-57219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178105" y="7203181"/>
            <a:ext cx="180535" cy="-61981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358640" y="7141200"/>
            <a:ext cx="180535" cy="-66541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539175" y="7074659"/>
            <a:ext cx="180535" cy="-70752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719711" y="7003907"/>
            <a:ext cx="180535" cy="-74464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900246" y="6929444"/>
            <a:ext cx="180535" cy="-77532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080782" y="6851912"/>
            <a:ext cx="180535" cy="-79827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261317" y="6772085"/>
            <a:ext cx="180535" cy="-81247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41852" y="6690838"/>
            <a:ext cx="180535" cy="-81728"/>
          </a:xfrm>
          <a:prstGeom prst="line">
            <a:avLst/>
          </a:prstGeom>
          <a:noFill/>
          <a:ln w="38100">
            <a:solidFill>
              <a:srgbClr val="1DA1F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5622388" y="6609110"/>
            <a:ext cx="27080" cy="-12187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676548" y="6584736"/>
            <a:ext cx="27080" cy="-12187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5730709" y="6560362"/>
            <a:ext cx="27080" cy="-12187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784870" y="6535987"/>
            <a:ext cx="18054" cy="-8125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802923" y="6527863"/>
            <a:ext cx="27080" cy="-11974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5857084" y="6503915"/>
            <a:ext cx="27080" cy="-11974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5911244" y="6479967"/>
            <a:ext cx="27080" cy="-11974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5965405" y="6456019"/>
            <a:ext cx="18054" cy="-798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983458" y="6448036"/>
            <a:ext cx="27080" cy="-1163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6037619" y="6424777"/>
            <a:ext cx="27080" cy="-1163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6091780" y="6401517"/>
            <a:ext cx="27080" cy="-1163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6145940" y="6378258"/>
            <a:ext cx="18054" cy="-775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6163994" y="6370504"/>
            <a:ext cx="27080" cy="-1117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6218154" y="6348165"/>
            <a:ext cx="27080" cy="-1117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6272315" y="6325826"/>
            <a:ext cx="27080" cy="-1117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326476" y="6303487"/>
            <a:ext cx="18054" cy="-7446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6344529" y="6296041"/>
            <a:ext cx="27080" cy="-1061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6398690" y="6274815"/>
            <a:ext cx="27080" cy="-1061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6452850" y="6253590"/>
            <a:ext cx="27080" cy="-1061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507011" y="6232364"/>
            <a:ext cx="18054" cy="-7075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6525065" y="6225289"/>
            <a:ext cx="27080" cy="-9981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6579225" y="6205327"/>
            <a:ext cx="27080" cy="-9981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6633386" y="6185364"/>
            <a:ext cx="27080" cy="-9981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6687546" y="6165402"/>
            <a:ext cx="18054" cy="-6654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6705600" y="6158748"/>
            <a:ext cx="27080" cy="-9297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6759761" y="6140154"/>
            <a:ext cx="27080" cy="-9297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6813921" y="6121559"/>
            <a:ext cx="27080" cy="-9297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6868082" y="6102965"/>
            <a:ext cx="18054" cy="-6198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886135" y="6096767"/>
            <a:ext cx="27080" cy="-858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6940296" y="6079601"/>
            <a:ext cx="27080" cy="-858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6994457" y="6062436"/>
            <a:ext cx="27080" cy="-858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7048617" y="6045270"/>
            <a:ext cx="18054" cy="-5722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7066671" y="6039548"/>
            <a:ext cx="27080" cy="-7858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7120831" y="6023832"/>
            <a:ext cx="27080" cy="-7858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7174992" y="6008116"/>
            <a:ext cx="27080" cy="-7858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7229153" y="5992400"/>
            <a:ext cx="18054" cy="-5239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7247206" y="5987162"/>
            <a:ext cx="27080" cy="-714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7301367" y="5972882"/>
            <a:ext cx="27080" cy="-714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7355527" y="5958602"/>
            <a:ext cx="27080" cy="-714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7409688" y="5944322"/>
            <a:ext cx="18054" cy="-476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7427742" y="5939562"/>
            <a:ext cx="27080" cy="-644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7481902" y="5926675"/>
            <a:ext cx="27080" cy="-644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7536063" y="5913789"/>
            <a:ext cx="27080" cy="-644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7590223" y="5900903"/>
            <a:ext cx="18054" cy="-4295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7608277" y="5896608"/>
            <a:ext cx="27080" cy="-5778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7662438" y="5885051"/>
            <a:ext cx="27080" cy="-5778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7716598" y="5873495"/>
            <a:ext cx="27080" cy="-5778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7770759" y="5861939"/>
            <a:ext cx="18054" cy="-3852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7788812" y="5858087"/>
            <a:ext cx="27080" cy="-515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7842973" y="5847781"/>
            <a:ext cx="27080" cy="-515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7897134" y="5837475"/>
            <a:ext cx="27080" cy="-515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7951294" y="5827169"/>
            <a:ext cx="18054" cy="-3435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7969348" y="5823733"/>
            <a:ext cx="27080" cy="-457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8023508" y="5814588"/>
            <a:ext cx="27080" cy="-457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8077669" y="5805443"/>
            <a:ext cx="27080" cy="-457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8131830" y="5796298"/>
            <a:ext cx="18054" cy="-3048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8149883" y="5793249"/>
            <a:ext cx="27080" cy="-404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8204044" y="5785170"/>
            <a:ext cx="27080" cy="-404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8258204" y="5777090"/>
            <a:ext cx="27080" cy="-404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8312365" y="5769011"/>
            <a:ext cx="18054" cy="-2693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8330418" y="5766318"/>
            <a:ext cx="27080" cy="-3555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8384579" y="5759208"/>
            <a:ext cx="27080" cy="-3555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8438740" y="5752097"/>
            <a:ext cx="27080" cy="-3555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8492900" y="5744987"/>
            <a:ext cx="18054" cy="-2370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8510954" y="5742617"/>
            <a:ext cx="27080" cy="-3118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8565114" y="5736382"/>
            <a:ext cx="27080" cy="-3118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8619275" y="5730146"/>
            <a:ext cx="27080" cy="-3118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8673436" y="5723911"/>
            <a:ext cx="18054" cy="-2079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8691489" y="5721832"/>
            <a:ext cx="27080" cy="-2726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8745650" y="5716380"/>
            <a:ext cx="27080" cy="-2726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8799810" y="5710928"/>
            <a:ext cx="27080" cy="-2726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8853971" y="5705476"/>
            <a:ext cx="18054" cy="-1817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8872025" y="5703659"/>
            <a:ext cx="27080" cy="-2377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8926185" y="5698904"/>
            <a:ext cx="27080" cy="-2377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8980346" y="5694150"/>
            <a:ext cx="27080" cy="-2377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9034506" y="5689395"/>
            <a:ext cx="18054" cy="-1585"/>
          </a:xfrm>
          <a:prstGeom prst="line">
            <a:avLst/>
          </a:prstGeom>
          <a:noFill/>
          <a:ln w="31750">
            <a:solidFill>
              <a:srgbClr val="1DA1F2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1920240" y="7544007"/>
            <a:ext cx="182880" cy="182880"/>
          </a:xfrm>
          <a:prstGeom prst="ellipse">
            <a:avLst/>
          </a:prstGeom>
          <a:solidFill>
            <a:srgbClr val="1DA1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2462349" y="7462951"/>
            <a:ext cx="182880" cy="182880"/>
          </a:xfrm>
          <a:prstGeom prst="ellipse">
            <a:avLst/>
          </a:prstGeom>
          <a:solidFill>
            <a:srgbClr val="1DA1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3004457" y="7237532"/>
            <a:ext cx="182880" cy="182880"/>
          </a:xfrm>
          <a:prstGeom prst="ellipse">
            <a:avLst/>
          </a:prstGeom>
          <a:solidFill>
            <a:srgbClr val="1DA1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3546566" y="6951197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4088674" y="6601172"/>
            <a:ext cx="182880" cy="182880"/>
          </a:xfrm>
          <a:prstGeom prst="ellipse">
            <a:avLst/>
          </a:prstGeom>
          <a:solidFill>
            <a:srgbClr val="1DA1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4630783" y="6324823"/>
            <a:ext cx="182880" cy="182880"/>
          </a:xfrm>
          <a:prstGeom prst="ellipse">
            <a:avLst/>
          </a:prstGeom>
          <a:solidFill>
            <a:srgbClr val="1DA1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172891" y="6114120"/>
            <a:ext cx="182880" cy="182880"/>
          </a:xfrm>
          <a:prstGeom prst="ellipse">
            <a:avLst/>
          </a:prstGeom>
          <a:solidFill>
            <a:srgbClr val="1DA1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715000" y="5983664"/>
            <a:ext cx="182880" cy="182880"/>
          </a:xfrm>
          <a:prstGeom prst="ellipse">
            <a:avLst/>
          </a:prstGeom>
          <a:solidFill>
            <a:srgbClr val="1DA1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8705088" y="5596128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7772400" y="5989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28.3m</a:t>
            </a:r>
            <a:endParaRPr lang="en-US" sz="1100" dirty="0"/>
          </a:p>
        </p:txBody>
      </p:sp>
      <p:sp>
        <p:nvSpPr>
          <p:cNvPr id="168" name="Shape 165"/>
          <p:cNvSpPr/>
          <p:nvPr/>
        </p:nvSpPr>
        <p:spPr>
          <a:xfrm>
            <a:off x="8869680" y="5943600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8869680" y="6053328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8869680" y="6163056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8869680" y="6272784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8869680" y="6382512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8869680" y="6492240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8869680" y="6601968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8869680" y="6711696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8869680" y="6821424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8869680" y="6931152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8869680" y="7040880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8869680" y="7150608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8869680" y="7260336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8869680" y="7370064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8869680" y="7479792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8869680" y="7589520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8869680" y="7699248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8869680" y="7808976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8869680" y="7918704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8869680" y="8028432"/>
            <a:ext cx="0" cy="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10149840" y="4023360"/>
            <a:ext cx="4389120" cy="4663440"/>
          </a:xfrm>
          <a:prstGeom prst="roundRect">
            <a:avLst>
              <a:gd name="adj" fmla="val 1667"/>
            </a:avLst>
          </a:prstGeom>
          <a:solidFill>
            <a:srgbClr val="1A1E22"/>
          </a:solidFill>
          <a:ln/>
        </p:spPr>
      </p:sp>
      <p:sp>
        <p:nvSpPr>
          <p:cNvPr id="189" name="Text 186"/>
          <p:cNvSpPr/>
          <p:nvPr/>
        </p:nvSpPr>
        <p:spPr>
          <a:xfrm>
            <a:off x="10424160" y="4251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Comparação de modelos</a:t>
            </a:r>
            <a:endParaRPr lang="en-US" sz="1500" dirty="0"/>
          </a:p>
        </p:txBody>
      </p:sp>
      <p:sp>
        <p:nvSpPr>
          <p:cNvPr id="190" name="Shape 187"/>
          <p:cNvSpPr/>
          <p:nvPr/>
        </p:nvSpPr>
        <p:spPr>
          <a:xfrm>
            <a:off x="10424160" y="480060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2279DF"/>
          </a:solidFill>
          <a:ln/>
        </p:spPr>
      </p:sp>
      <p:sp>
        <p:nvSpPr>
          <p:cNvPr id="191" name="Text 188"/>
          <p:cNvSpPr/>
          <p:nvPr/>
        </p:nvSpPr>
        <p:spPr>
          <a:xfrm>
            <a:off x="10607040" y="4919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Logístico</a:t>
            </a:r>
            <a:endParaRPr lang="en-US" sz="1300" dirty="0"/>
          </a:p>
        </p:txBody>
      </p:sp>
      <p:sp>
        <p:nvSpPr>
          <p:cNvPr id="192" name="Text 189"/>
          <p:cNvSpPr/>
          <p:nvPr/>
        </p:nvSpPr>
        <p:spPr>
          <a:xfrm>
            <a:off x="12710160" y="49194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adj-R² 0.94</a:t>
            </a:r>
            <a:endParaRPr lang="en-US" sz="1200" dirty="0"/>
          </a:p>
        </p:txBody>
      </p:sp>
      <p:sp>
        <p:nvSpPr>
          <p:cNvPr id="193" name="Shape 190"/>
          <p:cNvSpPr/>
          <p:nvPr/>
        </p:nvSpPr>
        <p:spPr>
          <a:xfrm>
            <a:off x="10424160" y="544068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262B30"/>
          </a:solidFill>
          <a:ln/>
        </p:spPr>
      </p:sp>
      <p:sp>
        <p:nvSpPr>
          <p:cNvPr id="194" name="Text 191"/>
          <p:cNvSpPr/>
          <p:nvPr/>
        </p:nvSpPr>
        <p:spPr>
          <a:xfrm>
            <a:off x="10607040" y="5559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Exponencial</a:t>
            </a:r>
            <a:endParaRPr lang="en-US" sz="1300" dirty="0"/>
          </a:p>
        </p:txBody>
      </p:sp>
      <p:sp>
        <p:nvSpPr>
          <p:cNvPr id="195" name="Text 192"/>
          <p:cNvSpPr/>
          <p:nvPr/>
        </p:nvSpPr>
        <p:spPr>
          <a:xfrm>
            <a:off x="12710160" y="55595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adj-R² 0.89</a:t>
            </a:r>
            <a:endParaRPr lang="en-US" sz="1200" dirty="0"/>
          </a:p>
        </p:txBody>
      </p:sp>
      <p:sp>
        <p:nvSpPr>
          <p:cNvPr id="196" name="Shape 193"/>
          <p:cNvSpPr/>
          <p:nvPr/>
        </p:nvSpPr>
        <p:spPr>
          <a:xfrm>
            <a:off x="10424160" y="608076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262B30"/>
          </a:solidFill>
          <a:ln/>
        </p:spPr>
      </p:sp>
      <p:sp>
        <p:nvSpPr>
          <p:cNvPr id="197" name="Text 194"/>
          <p:cNvSpPr/>
          <p:nvPr/>
        </p:nvSpPr>
        <p:spPr>
          <a:xfrm>
            <a:off x="10607040" y="6199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</a:t>
            </a:r>
            <a:endParaRPr lang="en-US" sz="1300" dirty="0"/>
          </a:p>
        </p:txBody>
      </p:sp>
      <p:sp>
        <p:nvSpPr>
          <p:cNvPr id="198" name="Text 195"/>
          <p:cNvSpPr/>
          <p:nvPr/>
        </p:nvSpPr>
        <p:spPr>
          <a:xfrm>
            <a:off x="12710160" y="61996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adj-R² 0.78</a:t>
            </a:r>
            <a:endParaRPr lang="en-US" sz="1200" dirty="0"/>
          </a:p>
        </p:txBody>
      </p:sp>
      <p:sp>
        <p:nvSpPr>
          <p:cNvPr id="199" name="Shape 196"/>
          <p:cNvSpPr/>
          <p:nvPr/>
        </p:nvSpPr>
        <p:spPr>
          <a:xfrm>
            <a:off x="10424160" y="672084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262B30"/>
          </a:solidFill>
          <a:ln/>
        </p:spPr>
      </p:sp>
      <p:sp>
        <p:nvSpPr>
          <p:cNvPr id="200" name="Text 197"/>
          <p:cNvSpPr/>
          <p:nvPr/>
        </p:nvSpPr>
        <p:spPr>
          <a:xfrm>
            <a:off x="10607040" y="6839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</a:t>
            </a:r>
            <a:endParaRPr lang="en-US" sz="1300" dirty="0"/>
          </a:p>
        </p:txBody>
      </p:sp>
      <p:sp>
        <p:nvSpPr>
          <p:cNvPr id="201" name="Text 198"/>
          <p:cNvSpPr/>
          <p:nvPr/>
        </p:nvSpPr>
        <p:spPr>
          <a:xfrm>
            <a:off x="12710160" y="68397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adj-R² —</a:t>
            </a:r>
            <a:endParaRPr lang="en-US" sz="1200" dirty="0"/>
          </a:p>
        </p:txBody>
      </p:sp>
      <p:sp>
        <p:nvSpPr>
          <p:cNvPr id="202" name="Shape 199"/>
          <p:cNvSpPr/>
          <p:nvPr/>
        </p:nvSpPr>
        <p:spPr>
          <a:xfrm>
            <a:off x="10424160" y="786384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262B3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3" name="Text 200"/>
          <p:cNvSpPr/>
          <p:nvPr/>
        </p:nvSpPr>
        <p:spPr>
          <a:xfrm>
            <a:off x="10607040" y="8001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SHELF LIFE</a:t>
            </a:r>
            <a:endParaRPr lang="en-US" sz="1000" dirty="0"/>
          </a:p>
        </p:txBody>
      </p:sp>
      <p:sp>
        <p:nvSpPr>
          <p:cNvPr id="204" name="Text 201"/>
          <p:cNvSpPr/>
          <p:nvPr/>
        </p:nvSpPr>
        <p:spPr>
          <a:xfrm>
            <a:off x="10607040" y="8321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28.3 meses</a:t>
            </a:r>
            <a:endParaRPr lang="en-US" sz="2800" dirty="0"/>
          </a:p>
        </p:txBody>
      </p:sp>
      <p:sp>
        <p:nvSpPr>
          <p:cNvPr id="205" name="Text 202"/>
          <p:cNvSpPr/>
          <p:nvPr/>
        </p:nvSpPr>
        <p:spPr>
          <a:xfrm>
            <a:off x="10607040" y="9006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± 1.2m  ·  modo: one-sided máx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0" y="0"/>
            <a:ext cx="2834640" cy="2834640"/>
          </a:xfrm>
          <a:prstGeom prst="rect">
            <a:avLst/>
          </a:prstGeom>
          <a:solidFill>
            <a:srgbClr val="2279DF"/>
          </a:solidFill>
          <a:ln/>
        </p:spPr>
      </p:sp>
      <p:pic>
        <p:nvPicPr>
          <p:cNvPr id="3" name="Image 0" descr="C:\Users\Administrador\Desktop\Git Dobslit\Indorama\frontend\public\logo-dobs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555480"/>
            <a:ext cx="128016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19120" y="9646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dobslit.com  ·  Abril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· MÓDULO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1417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Relatório interativo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1417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Importância de ensaios navegável: filtros de cenário e modelo, rankings por família, heatmaps e análises temáticas.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3474720"/>
            <a:ext cx="14173200" cy="5760720"/>
          </a:xfrm>
          <a:prstGeom prst="roundRect">
            <a:avLst>
              <a:gd name="adj" fmla="val 1905"/>
            </a:avLst>
          </a:prstGeom>
          <a:solidFill>
            <a:srgbClr val="14171A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3474720"/>
            <a:ext cx="14173200" cy="914400"/>
          </a:xfrm>
          <a:prstGeom prst="rect">
            <a:avLst/>
          </a:prstGeom>
          <a:solidFill>
            <a:srgbClr val="1F2428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FILTROS GLOBAIS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920240" y="39319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2279DF"/>
          </a:solidFill>
          <a:ln/>
        </p:spPr>
      </p:sp>
      <p:sp>
        <p:nvSpPr>
          <p:cNvPr id="13" name="Text 10"/>
          <p:cNvSpPr/>
          <p:nvPr/>
        </p:nvSpPr>
        <p:spPr>
          <a:xfrm>
            <a:off x="2057400" y="39502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Longa duração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8056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94960" y="39319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2279DF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39502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95528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Família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869680" y="39319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262B30"/>
          </a:solidFill>
          <a:ln/>
        </p:spPr>
      </p:sp>
      <p:sp>
        <p:nvSpPr>
          <p:cNvPr id="19" name="Text 16"/>
          <p:cNvSpPr/>
          <p:nvPr/>
        </p:nvSpPr>
        <p:spPr>
          <a:xfrm>
            <a:off x="9006840" y="39502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(todas)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457200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1A1E22"/>
          </a:solidFill>
          <a:ln/>
        </p:spPr>
      </p:sp>
      <p:sp>
        <p:nvSpPr>
          <p:cNvPr id="21" name="Text 18"/>
          <p:cNvSpPr/>
          <p:nvPr/>
        </p:nvSpPr>
        <p:spPr>
          <a:xfrm>
            <a:off x="1280160" y="47548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ensaios críticos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80160" y="516636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Família Surfom CS · Longa duração · XGBoost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280160" y="5760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783080" y="5760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 APHA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0" y="5833872"/>
            <a:ext cx="2560320" cy="201168"/>
          </a:xfrm>
          <a:prstGeom prst="roundRect">
            <a:avLst>
              <a:gd name="adj" fmla="val 13636"/>
            </a:avLst>
          </a:prstGeom>
          <a:solidFill>
            <a:srgbClr val="262B30"/>
          </a:solidFill>
          <a:ln/>
        </p:spPr>
      </p:sp>
      <p:sp>
        <p:nvSpPr>
          <p:cNvPr id="26" name="Shape 23"/>
          <p:cNvSpPr/>
          <p:nvPr/>
        </p:nvSpPr>
        <p:spPr>
          <a:xfrm>
            <a:off x="4572000" y="5833872"/>
            <a:ext cx="2560320" cy="201168"/>
          </a:xfrm>
          <a:prstGeom prst="roundRect">
            <a:avLst>
              <a:gd name="adj" fmla="val 13636"/>
            </a:avLst>
          </a:prstGeom>
          <a:solidFill>
            <a:srgbClr val="1DA1F2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5760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0.42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280160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783080" y="6309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de Hidroxila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0" y="6382512"/>
            <a:ext cx="2560320" cy="201168"/>
          </a:xfrm>
          <a:prstGeom prst="roundRect">
            <a:avLst>
              <a:gd name="adj" fmla="val 13636"/>
            </a:avLst>
          </a:prstGeom>
          <a:solidFill>
            <a:srgbClr val="262B30"/>
          </a:solidFill>
          <a:ln/>
        </p:spPr>
      </p:sp>
      <p:sp>
        <p:nvSpPr>
          <p:cNvPr id="31" name="Shape 28"/>
          <p:cNvSpPr/>
          <p:nvPr/>
        </p:nvSpPr>
        <p:spPr>
          <a:xfrm>
            <a:off x="4572000" y="6382512"/>
            <a:ext cx="1706880" cy="201168"/>
          </a:xfrm>
          <a:prstGeom prst="roundRect">
            <a:avLst>
              <a:gd name="adj" fmla="val 13636"/>
            </a:avLst>
          </a:prstGeom>
          <a:solidFill>
            <a:srgbClr val="1DA1F2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0" y="6309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0.28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280160" y="6858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783080" y="6858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Viscosidade dinâmica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572000" y="6931152"/>
            <a:ext cx="2560320" cy="201168"/>
          </a:xfrm>
          <a:prstGeom prst="roundRect">
            <a:avLst>
              <a:gd name="adj" fmla="val 13636"/>
            </a:avLst>
          </a:prstGeom>
          <a:solidFill>
            <a:srgbClr val="262B30"/>
          </a:solidFill>
          <a:ln/>
        </p:spPr>
      </p:sp>
      <p:sp>
        <p:nvSpPr>
          <p:cNvPr id="36" name="Shape 33"/>
          <p:cNvSpPr/>
          <p:nvPr/>
        </p:nvSpPr>
        <p:spPr>
          <a:xfrm>
            <a:off x="4572000" y="6931152"/>
            <a:ext cx="1158240" cy="201168"/>
          </a:xfrm>
          <a:prstGeom prst="roundRect">
            <a:avLst>
              <a:gd name="adj" fmla="val 13636"/>
            </a:avLst>
          </a:prstGeom>
          <a:solidFill>
            <a:srgbClr val="1DA1F2"/>
          </a:solidFill>
          <a:ln/>
        </p:spPr>
      </p:sp>
      <p:sp>
        <p:nvSpPr>
          <p:cNvPr id="37" name="Text 34"/>
          <p:cNvSpPr/>
          <p:nvPr/>
        </p:nvSpPr>
        <p:spPr>
          <a:xfrm>
            <a:off x="6583680" y="68580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0.19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280160" y="7406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783080" y="7406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de Acidez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572000" y="7479792"/>
            <a:ext cx="2560320" cy="201168"/>
          </a:xfrm>
          <a:prstGeom prst="roundRect">
            <a:avLst>
              <a:gd name="adj" fmla="val 13636"/>
            </a:avLst>
          </a:prstGeom>
          <a:solidFill>
            <a:srgbClr val="262B30"/>
          </a:solidFill>
          <a:ln/>
        </p:spPr>
      </p:sp>
      <p:sp>
        <p:nvSpPr>
          <p:cNvPr id="41" name="Shape 38"/>
          <p:cNvSpPr/>
          <p:nvPr/>
        </p:nvSpPr>
        <p:spPr>
          <a:xfrm>
            <a:off x="4572000" y="7479792"/>
            <a:ext cx="853440" cy="201168"/>
          </a:xfrm>
          <a:prstGeom prst="roundRect">
            <a:avLst>
              <a:gd name="adj" fmla="val 13636"/>
            </a:avLst>
          </a:prstGeom>
          <a:solidFill>
            <a:srgbClr val="1DA1F2"/>
          </a:solidFill>
          <a:ln/>
        </p:spPr>
      </p:sp>
      <p:sp>
        <p:nvSpPr>
          <p:cNvPr id="42" name="Text 39"/>
          <p:cNvSpPr/>
          <p:nvPr/>
        </p:nvSpPr>
        <p:spPr>
          <a:xfrm>
            <a:off x="6583680" y="7406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0.14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280160" y="7955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783080" y="7955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de Peróxido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572000" y="8028432"/>
            <a:ext cx="2560320" cy="201168"/>
          </a:xfrm>
          <a:prstGeom prst="roundRect">
            <a:avLst>
              <a:gd name="adj" fmla="val 13636"/>
            </a:avLst>
          </a:prstGeom>
          <a:solidFill>
            <a:srgbClr val="262B30"/>
          </a:solidFill>
          <a:ln/>
        </p:spPr>
      </p:sp>
      <p:sp>
        <p:nvSpPr>
          <p:cNvPr id="46" name="Shape 43"/>
          <p:cNvSpPr/>
          <p:nvPr/>
        </p:nvSpPr>
        <p:spPr>
          <a:xfrm>
            <a:off x="4572000" y="8028432"/>
            <a:ext cx="670560" cy="201168"/>
          </a:xfrm>
          <a:prstGeom prst="roundRect">
            <a:avLst>
              <a:gd name="adj" fmla="val 13636"/>
            </a:avLst>
          </a:prstGeom>
          <a:solidFill>
            <a:srgbClr val="1DA1F2"/>
          </a:solidFill>
          <a:ln/>
        </p:spPr>
      </p:sp>
      <p:sp>
        <p:nvSpPr>
          <p:cNvPr id="47" name="Text 44"/>
          <p:cNvSpPr/>
          <p:nvPr/>
        </p:nvSpPr>
        <p:spPr>
          <a:xfrm>
            <a:off x="6583680" y="79552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0.11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1280160" y="8503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783080" y="8503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 de água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4572000" y="8577072"/>
            <a:ext cx="2560320" cy="201168"/>
          </a:xfrm>
          <a:prstGeom prst="roundRect">
            <a:avLst>
              <a:gd name="adj" fmla="val 13636"/>
            </a:avLst>
          </a:prstGeom>
          <a:solidFill>
            <a:srgbClr val="262B30"/>
          </a:solidFill>
          <a:ln/>
        </p:spPr>
      </p:sp>
      <p:sp>
        <p:nvSpPr>
          <p:cNvPr id="51" name="Shape 48"/>
          <p:cNvSpPr/>
          <p:nvPr/>
        </p:nvSpPr>
        <p:spPr>
          <a:xfrm>
            <a:off x="4572000" y="8577072"/>
            <a:ext cx="426720" cy="201168"/>
          </a:xfrm>
          <a:prstGeom prst="roundRect">
            <a:avLst>
              <a:gd name="adj" fmla="val 13636"/>
            </a:avLst>
          </a:prstGeom>
          <a:solidFill>
            <a:srgbClr val="1DA1F2"/>
          </a:solidFill>
          <a:ln/>
        </p:spPr>
      </p:sp>
      <p:sp>
        <p:nvSpPr>
          <p:cNvPr id="52" name="Text 49"/>
          <p:cNvSpPr/>
          <p:nvPr/>
        </p:nvSpPr>
        <p:spPr>
          <a:xfrm>
            <a:off x="6583680" y="85039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0.07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7955280" y="457200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1A1E22"/>
          </a:solidFill>
          <a:ln/>
        </p:spPr>
      </p:sp>
      <p:sp>
        <p:nvSpPr>
          <p:cNvPr id="54" name="Text 51"/>
          <p:cNvSpPr/>
          <p:nvPr/>
        </p:nvSpPr>
        <p:spPr>
          <a:xfrm>
            <a:off x="8229600" y="47548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Heatmap comparativo</a:t>
            </a:r>
            <a:endParaRPr lang="en-US" sz="1500" dirty="0"/>
          </a:p>
        </p:txBody>
      </p:sp>
      <p:sp>
        <p:nvSpPr>
          <p:cNvPr id="55" name="Text 52"/>
          <p:cNvSpPr/>
          <p:nvPr/>
        </p:nvSpPr>
        <p:spPr>
          <a:xfrm>
            <a:off x="8229600" y="516636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Ensaios × famílias · importância normalizada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9144000" y="5440680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9857232" y="5440680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OH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0570464" y="5440680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Visc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11283696" y="5440680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Acid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11996928" y="5440680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Perox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12710160" y="5440680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H₂O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8092440" y="5897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 A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171432" y="5879592"/>
            <a:ext cx="658368" cy="384048"/>
          </a:xfrm>
          <a:prstGeom prst="rect">
            <a:avLst/>
          </a:prstGeom>
          <a:solidFill>
            <a:srgbClr val="1C88CA"/>
          </a:solidFill>
          <a:ln/>
        </p:spPr>
      </p:sp>
      <p:sp>
        <p:nvSpPr>
          <p:cNvPr id="64" name="Text 61"/>
          <p:cNvSpPr/>
          <p:nvPr/>
        </p:nvSpPr>
        <p:spPr>
          <a:xfrm>
            <a:off x="9144000" y="589788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9884664" y="5879592"/>
            <a:ext cx="658368" cy="384048"/>
          </a:xfrm>
          <a:prstGeom prst="rect">
            <a:avLst/>
          </a:prstGeom>
          <a:solidFill>
            <a:srgbClr val="1D90D7"/>
          </a:solidFill>
          <a:ln/>
        </p:spPr>
      </p:sp>
      <p:sp>
        <p:nvSpPr>
          <p:cNvPr id="66" name="Text 63"/>
          <p:cNvSpPr/>
          <p:nvPr/>
        </p:nvSpPr>
        <p:spPr>
          <a:xfrm>
            <a:off x="9857232" y="589788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10597896" y="5879592"/>
            <a:ext cx="658368" cy="384048"/>
          </a:xfrm>
          <a:prstGeom prst="rect">
            <a:avLst/>
          </a:prstGeom>
          <a:solidFill>
            <a:srgbClr val="1B3547"/>
          </a:solidFill>
          <a:ln/>
        </p:spPr>
      </p:sp>
      <p:sp>
        <p:nvSpPr>
          <p:cNvPr id="68" name="Shape 65"/>
          <p:cNvSpPr/>
          <p:nvPr/>
        </p:nvSpPr>
        <p:spPr>
          <a:xfrm>
            <a:off x="11311128" y="5879592"/>
            <a:ext cx="658368" cy="384048"/>
          </a:xfrm>
          <a:prstGeom prst="rect">
            <a:avLst/>
          </a:prstGeom>
          <a:solidFill>
            <a:srgbClr val="1C7EBA"/>
          </a:solidFill>
          <a:ln/>
        </p:spPr>
      </p:sp>
      <p:sp>
        <p:nvSpPr>
          <p:cNvPr id="69" name="Text 66"/>
          <p:cNvSpPr/>
          <p:nvPr/>
        </p:nvSpPr>
        <p:spPr>
          <a:xfrm>
            <a:off x="11283696" y="589788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12024360" y="5879592"/>
            <a:ext cx="658368" cy="384048"/>
          </a:xfrm>
          <a:prstGeom prst="rect">
            <a:avLst/>
          </a:prstGeom>
          <a:solidFill>
            <a:srgbClr val="1D96E0"/>
          </a:solidFill>
          <a:ln/>
        </p:spPr>
      </p:sp>
      <p:sp>
        <p:nvSpPr>
          <p:cNvPr id="71" name="Text 68"/>
          <p:cNvSpPr/>
          <p:nvPr/>
        </p:nvSpPr>
        <p:spPr>
          <a:xfrm>
            <a:off x="11996928" y="589788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12737592" y="5879592"/>
            <a:ext cx="658368" cy="384048"/>
          </a:xfrm>
          <a:prstGeom prst="rect">
            <a:avLst/>
          </a:prstGeom>
          <a:solidFill>
            <a:srgbClr val="1B4561"/>
          </a:solidFill>
          <a:ln/>
        </p:spPr>
      </p:sp>
      <p:sp>
        <p:nvSpPr>
          <p:cNvPr id="73" name="Text 70"/>
          <p:cNvSpPr/>
          <p:nvPr/>
        </p:nvSpPr>
        <p:spPr>
          <a:xfrm>
            <a:off x="8092440" y="63367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 B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9171432" y="6318504"/>
            <a:ext cx="658368" cy="384048"/>
          </a:xfrm>
          <a:prstGeom prst="rect">
            <a:avLst/>
          </a:prstGeom>
          <a:solidFill>
            <a:srgbClr val="1D90D7"/>
          </a:solidFill>
          <a:ln/>
        </p:spPr>
      </p:sp>
      <p:sp>
        <p:nvSpPr>
          <p:cNvPr id="75" name="Text 72"/>
          <p:cNvSpPr/>
          <p:nvPr/>
        </p:nvSpPr>
        <p:spPr>
          <a:xfrm>
            <a:off x="9144000" y="633679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9884664" y="6318504"/>
            <a:ext cx="658368" cy="384048"/>
          </a:xfrm>
          <a:prstGeom prst="rect">
            <a:avLst/>
          </a:prstGeom>
          <a:solidFill>
            <a:srgbClr val="1C7EBA"/>
          </a:solidFill>
          <a:ln/>
        </p:spPr>
      </p:sp>
      <p:sp>
        <p:nvSpPr>
          <p:cNvPr id="77" name="Text 74"/>
          <p:cNvSpPr/>
          <p:nvPr/>
        </p:nvSpPr>
        <p:spPr>
          <a:xfrm>
            <a:off x="9857232" y="633679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10597896" y="6318504"/>
            <a:ext cx="658368" cy="384048"/>
          </a:xfrm>
          <a:prstGeom prst="rect">
            <a:avLst/>
          </a:prstGeom>
          <a:solidFill>
            <a:srgbClr val="1B4561"/>
          </a:solidFill>
          <a:ln/>
        </p:spPr>
      </p:sp>
      <p:sp>
        <p:nvSpPr>
          <p:cNvPr id="79" name="Shape 76"/>
          <p:cNvSpPr/>
          <p:nvPr/>
        </p:nvSpPr>
        <p:spPr>
          <a:xfrm>
            <a:off x="11311128" y="6318504"/>
            <a:ext cx="658368" cy="384048"/>
          </a:xfrm>
          <a:prstGeom prst="rect">
            <a:avLst/>
          </a:prstGeom>
          <a:solidFill>
            <a:srgbClr val="1D99E6"/>
          </a:solidFill>
          <a:ln/>
        </p:spPr>
      </p:sp>
      <p:sp>
        <p:nvSpPr>
          <p:cNvPr id="80" name="Text 77"/>
          <p:cNvSpPr/>
          <p:nvPr/>
        </p:nvSpPr>
        <p:spPr>
          <a:xfrm>
            <a:off x="11283696" y="633679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12024360" y="6318504"/>
            <a:ext cx="658368" cy="384048"/>
          </a:xfrm>
          <a:prstGeom prst="rect">
            <a:avLst/>
          </a:prstGeom>
          <a:solidFill>
            <a:srgbClr val="1C6592"/>
          </a:solidFill>
          <a:ln/>
        </p:spPr>
      </p:sp>
      <p:sp>
        <p:nvSpPr>
          <p:cNvPr id="82" name="Shape 79"/>
          <p:cNvSpPr/>
          <p:nvPr/>
        </p:nvSpPr>
        <p:spPr>
          <a:xfrm>
            <a:off x="12737592" y="6318504"/>
            <a:ext cx="658368" cy="384048"/>
          </a:xfrm>
          <a:prstGeom prst="rect">
            <a:avLst/>
          </a:prstGeom>
          <a:solidFill>
            <a:srgbClr val="1C6491"/>
          </a:solidFill>
          <a:ln/>
        </p:spPr>
      </p:sp>
      <p:sp>
        <p:nvSpPr>
          <p:cNvPr id="83" name="Text 80"/>
          <p:cNvSpPr/>
          <p:nvPr/>
        </p:nvSpPr>
        <p:spPr>
          <a:xfrm>
            <a:off x="8092440" y="67757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 C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9171432" y="6757416"/>
            <a:ext cx="658368" cy="384048"/>
          </a:xfrm>
          <a:prstGeom prst="rect">
            <a:avLst/>
          </a:prstGeom>
          <a:solidFill>
            <a:srgbClr val="1B3547"/>
          </a:solidFill>
          <a:ln/>
        </p:spPr>
      </p:sp>
      <p:sp>
        <p:nvSpPr>
          <p:cNvPr id="85" name="Shape 82"/>
          <p:cNvSpPr/>
          <p:nvPr/>
        </p:nvSpPr>
        <p:spPr>
          <a:xfrm>
            <a:off x="9884664" y="6757416"/>
            <a:ext cx="658368" cy="384048"/>
          </a:xfrm>
          <a:prstGeom prst="rect">
            <a:avLst/>
          </a:prstGeom>
          <a:solidFill>
            <a:srgbClr val="1B4561"/>
          </a:solidFill>
          <a:ln/>
        </p:spPr>
      </p:sp>
      <p:sp>
        <p:nvSpPr>
          <p:cNvPr id="86" name="Shape 83"/>
          <p:cNvSpPr/>
          <p:nvPr/>
        </p:nvSpPr>
        <p:spPr>
          <a:xfrm>
            <a:off x="10597896" y="6757416"/>
            <a:ext cx="658368" cy="384048"/>
          </a:xfrm>
          <a:prstGeom prst="rect">
            <a:avLst/>
          </a:prstGeom>
          <a:solidFill>
            <a:srgbClr val="1B557A"/>
          </a:solidFill>
          <a:ln/>
        </p:spPr>
      </p:sp>
      <p:sp>
        <p:nvSpPr>
          <p:cNvPr id="87" name="Shape 84"/>
          <p:cNvSpPr/>
          <p:nvPr/>
        </p:nvSpPr>
        <p:spPr>
          <a:xfrm>
            <a:off x="11311128" y="6757416"/>
            <a:ext cx="658368" cy="384048"/>
          </a:xfrm>
          <a:prstGeom prst="rect">
            <a:avLst/>
          </a:prstGeom>
          <a:solidFill>
            <a:srgbClr val="1C6491"/>
          </a:solidFill>
          <a:ln/>
        </p:spPr>
      </p:sp>
      <p:sp>
        <p:nvSpPr>
          <p:cNvPr id="88" name="Shape 85"/>
          <p:cNvSpPr/>
          <p:nvPr/>
        </p:nvSpPr>
        <p:spPr>
          <a:xfrm>
            <a:off x="12024360" y="6757416"/>
            <a:ext cx="658368" cy="384048"/>
          </a:xfrm>
          <a:prstGeom prst="rect">
            <a:avLst/>
          </a:prstGeom>
          <a:solidFill>
            <a:srgbClr val="1C71A6"/>
          </a:solidFill>
          <a:ln/>
        </p:spPr>
      </p:sp>
      <p:sp>
        <p:nvSpPr>
          <p:cNvPr id="89" name="Shape 86"/>
          <p:cNvSpPr/>
          <p:nvPr/>
        </p:nvSpPr>
        <p:spPr>
          <a:xfrm>
            <a:off x="12737592" y="6757416"/>
            <a:ext cx="658368" cy="384048"/>
          </a:xfrm>
          <a:prstGeom prst="rect">
            <a:avLst/>
          </a:prstGeom>
          <a:solidFill>
            <a:srgbClr val="1C7DB9"/>
          </a:solidFill>
          <a:ln/>
        </p:spPr>
      </p:sp>
      <p:sp>
        <p:nvSpPr>
          <p:cNvPr id="90" name="Text 87"/>
          <p:cNvSpPr/>
          <p:nvPr/>
        </p:nvSpPr>
        <p:spPr>
          <a:xfrm>
            <a:off x="12710160" y="6775704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8092440" y="72146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 D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9171432" y="7196328"/>
            <a:ext cx="658368" cy="384048"/>
          </a:xfrm>
          <a:prstGeom prst="rect">
            <a:avLst/>
          </a:prstGeom>
          <a:solidFill>
            <a:srgbClr val="1C7EBA"/>
          </a:solidFill>
          <a:ln/>
        </p:spPr>
      </p:sp>
      <p:sp>
        <p:nvSpPr>
          <p:cNvPr id="93" name="Text 90"/>
          <p:cNvSpPr/>
          <p:nvPr/>
        </p:nvSpPr>
        <p:spPr>
          <a:xfrm>
            <a:off x="9144000" y="7214616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9884664" y="7196328"/>
            <a:ext cx="658368" cy="384048"/>
          </a:xfrm>
          <a:prstGeom prst="rect">
            <a:avLst/>
          </a:prstGeom>
          <a:solidFill>
            <a:srgbClr val="1D99E6"/>
          </a:solidFill>
          <a:ln/>
        </p:spPr>
      </p:sp>
      <p:sp>
        <p:nvSpPr>
          <p:cNvPr id="95" name="Text 92"/>
          <p:cNvSpPr/>
          <p:nvPr/>
        </p:nvSpPr>
        <p:spPr>
          <a:xfrm>
            <a:off x="9857232" y="7214616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n-US" sz="900" dirty="0"/>
          </a:p>
        </p:txBody>
      </p:sp>
      <p:sp>
        <p:nvSpPr>
          <p:cNvPr id="96" name="Shape 93"/>
          <p:cNvSpPr/>
          <p:nvPr/>
        </p:nvSpPr>
        <p:spPr>
          <a:xfrm>
            <a:off x="10597896" y="7196328"/>
            <a:ext cx="658368" cy="384048"/>
          </a:xfrm>
          <a:prstGeom prst="rect">
            <a:avLst/>
          </a:prstGeom>
          <a:solidFill>
            <a:srgbClr val="1C6491"/>
          </a:solidFill>
          <a:ln/>
        </p:spPr>
      </p:sp>
      <p:sp>
        <p:nvSpPr>
          <p:cNvPr id="97" name="Shape 94"/>
          <p:cNvSpPr/>
          <p:nvPr/>
        </p:nvSpPr>
        <p:spPr>
          <a:xfrm>
            <a:off x="11311128" y="7196328"/>
            <a:ext cx="658368" cy="384048"/>
          </a:xfrm>
          <a:prstGeom prst="rect">
            <a:avLst/>
          </a:prstGeom>
          <a:solidFill>
            <a:srgbClr val="1B4662"/>
          </a:solidFill>
          <a:ln/>
        </p:spPr>
      </p:sp>
      <p:sp>
        <p:nvSpPr>
          <p:cNvPr id="98" name="Shape 95"/>
          <p:cNvSpPr/>
          <p:nvPr/>
        </p:nvSpPr>
        <p:spPr>
          <a:xfrm>
            <a:off x="12024360" y="7196328"/>
            <a:ext cx="658368" cy="384048"/>
          </a:xfrm>
          <a:prstGeom prst="rect">
            <a:avLst/>
          </a:prstGeom>
          <a:solidFill>
            <a:srgbClr val="1D90D7"/>
          </a:solidFill>
          <a:ln/>
        </p:spPr>
      </p:sp>
      <p:sp>
        <p:nvSpPr>
          <p:cNvPr id="99" name="Text 96"/>
          <p:cNvSpPr/>
          <p:nvPr/>
        </p:nvSpPr>
        <p:spPr>
          <a:xfrm>
            <a:off x="11996928" y="7214616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12737592" y="7196328"/>
            <a:ext cx="658368" cy="384048"/>
          </a:xfrm>
          <a:prstGeom prst="rect">
            <a:avLst/>
          </a:prstGeom>
          <a:solidFill>
            <a:srgbClr val="1D8FD6"/>
          </a:solidFill>
          <a:ln/>
        </p:spPr>
      </p:sp>
      <p:sp>
        <p:nvSpPr>
          <p:cNvPr id="101" name="Text 98"/>
          <p:cNvSpPr/>
          <p:nvPr/>
        </p:nvSpPr>
        <p:spPr>
          <a:xfrm>
            <a:off x="12710160" y="7214616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n-US" sz="900" dirty="0"/>
          </a:p>
        </p:txBody>
      </p:sp>
      <p:sp>
        <p:nvSpPr>
          <p:cNvPr id="102" name="Text 99"/>
          <p:cNvSpPr/>
          <p:nvPr/>
        </p:nvSpPr>
        <p:spPr>
          <a:xfrm>
            <a:off x="8092440" y="76535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 E</a:t>
            </a:r>
            <a:endParaRPr lang="en-US" sz="1000" dirty="0"/>
          </a:p>
        </p:txBody>
      </p:sp>
      <p:sp>
        <p:nvSpPr>
          <p:cNvPr id="103" name="Shape 100"/>
          <p:cNvSpPr/>
          <p:nvPr/>
        </p:nvSpPr>
        <p:spPr>
          <a:xfrm>
            <a:off x="9171432" y="7635240"/>
            <a:ext cx="658368" cy="384048"/>
          </a:xfrm>
          <a:prstGeom prst="rect">
            <a:avLst/>
          </a:prstGeom>
          <a:solidFill>
            <a:srgbClr val="1D96E0"/>
          </a:solidFill>
          <a:ln/>
        </p:spPr>
      </p:sp>
      <p:sp>
        <p:nvSpPr>
          <p:cNvPr id="104" name="Text 101"/>
          <p:cNvSpPr/>
          <p:nvPr/>
        </p:nvSpPr>
        <p:spPr>
          <a:xfrm>
            <a:off x="9144000" y="7653528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n-US" sz="900" dirty="0"/>
          </a:p>
        </p:txBody>
      </p:sp>
      <p:sp>
        <p:nvSpPr>
          <p:cNvPr id="105" name="Shape 102"/>
          <p:cNvSpPr/>
          <p:nvPr/>
        </p:nvSpPr>
        <p:spPr>
          <a:xfrm>
            <a:off x="9884664" y="7635240"/>
            <a:ext cx="658368" cy="384048"/>
          </a:xfrm>
          <a:prstGeom prst="rect">
            <a:avLst/>
          </a:prstGeom>
          <a:solidFill>
            <a:srgbClr val="1C6592"/>
          </a:solidFill>
          <a:ln/>
        </p:spPr>
      </p:sp>
      <p:sp>
        <p:nvSpPr>
          <p:cNvPr id="106" name="Shape 103"/>
          <p:cNvSpPr/>
          <p:nvPr/>
        </p:nvSpPr>
        <p:spPr>
          <a:xfrm>
            <a:off x="10597896" y="7635240"/>
            <a:ext cx="658368" cy="384048"/>
          </a:xfrm>
          <a:prstGeom prst="rect">
            <a:avLst/>
          </a:prstGeom>
          <a:solidFill>
            <a:srgbClr val="1C71A6"/>
          </a:solidFill>
          <a:ln/>
        </p:spPr>
      </p:sp>
      <p:sp>
        <p:nvSpPr>
          <p:cNvPr id="107" name="Shape 104"/>
          <p:cNvSpPr/>
          <p:nvPr/>
        </p:nvSpPr>
        <p:spPr>
          <a:xfrm>
            <a:off x="11311128" y="7635240"/>
            <a:ext cx="658368" cy="384048"/>
          </a:xfrm>
          <a:prstGeom prst="rect">
            <a:avLst/>
          </a:prstGeom>
          <a:solidFill>
            <a:srgbClr val="1D90D7"/>
          </a:solidFill>
          <a:ln/>
        </p:spPr>
      </p:sp>
      <p:sp>
        <p:nvSpPr>
          <p:cNvPr id="108" name="Text 105"/>
          <p:cNvSpPr/>
          <p:nvPr/>
        </p:nvSpPr>
        <p:spPr>
          <a:xfrm>
            <a:off x="11283696" y="7653528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n-US" sz="900" dirty="0"/>
          </a:p>
        </p:txBody>
      </p:sp>
      <p:sp>
        <p:nvSpPr>
          <p:cNvPr id="109" name="Shape 106"/>
          <p:cNvSpPr/>
          <p:nvPr/>
        </p:nvSpPr>
        <p:spPr>
          <a:xfrm>
            <a:off x="12024360" y="7635240"/>
            <a:ext cx="658368" cy="384048"/>
          </a:xfrm>
          <a:prstGeom prst="rect">
            <a:avLst/>
          </a:prstGeom>
          <a:solidFill>
            <a:srgbClr val="1B3445"/>
          </a:solidFill>
          <a:ln/>
        </p:spPr>
      </p:sp>
      <p:sp>
        <p:nvSpPr>
          <p:cNvPr id="110" name="Shape 107"/>
          <p:cNvSpPr/>
          <p:nvPr/>
        </p:nvSpPr>
        <p:spPr>
          <a:xfrm>
            <a:off x="12737592" y="7635240"/>
            <a:ext cx="658368" cy="384048"/>
          </a:xfrm>
          <a:prstGeom prst="rect">
            <a:avLst/>
          </a:prstGeom>
          <a:solidFill>
            <a:srgbClr val="1D99E5"/>
          </a:solidFill>
          <a:ln/>
        </p:spPr>
      </p:sp>
      <p:sp>
        <p:nvSpPr>
          <p:cNvPr id="111" name="Text 108"/>
          <p:cNvSpPr/>
          <p:nvPr/>
        </p:nvSpPr>
        <p:spPr>
          <a:xfrm>
            <a:off x="12710160" y="7653528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n-US" sz="900" dirty="0"/>
          </a:p>
        </p:txBody>
      </p:sp>
      <p:sp>
        <p:nvSpPr>
          <p:cNvPr id="112" name="Text 109"/>
          <p:cNvSpPr/>
          <p:nvPr/>
        </p:nvSpPr>
        <p:spPr>
          <a:xfrm>
            <a:off x="8092440" y="8092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 F</a:t>
            </a:r>
            <a:endParaRPr lang="en-US" sz="1000" dirty="0"/>
          </a:p>
        </p:txBody>
      </p:sp>
      <p:sp>
        <p:nvSpPr>
          <p:cNvPr id="113" name="Shape 110"/>
          <p:cNvSpPr/>
          <p:nvPr/>
        </p:nvSpPr>
        <p:spPr>
          <a:xfrm>
            <a:off x="9171432" y="8074152"/>
            <a:ext cx="658368" cy="384048"/>
          </a:xfrm>
          <a:prstGeom prst="rect">
            <a:avLst/>
          </a:prstGeom>
          <a:solidFill>
            <a:srgbClr val="1B4561"/>
          </a:solidFill>
          <a:ln/>
        </p:spPr>
      </p:sp>
      <p:sp>
        <p:nvSpPr>
          <p:cNvPr id="114" name="Shape 111"/>
          <p:cNvSpPr/>
          <p:nvPr/>
        </p:nvSpPr>
        <p:spPr>
          <a:xfrm>
            <a:off x="9884664" y="8074152"/>
            <a:ext cx="658368" cy="384048"/>
          </a:xfrm>
          <a:prstGeom prst="rect">
            <a:avLst/>
          </a:prstGeom>
          <a:solidFill>
            <a:srgbClr val="1C6491"/>
          </a:solidFill>
          <a:ln/>
        </p:spPr>
      </p:sp>
      <p:sp>
        <p:nvSpPr>
          <p:cNvPr id="115" name="Shape 112"/>
          <p:cNvSpPr/>
          <p:nvPr/>
        </p:nvSpPr>
        <p:spPr>
          <a:xfrm>
            <a:off x="10597896" y="8074152"/>
            <a:ext cx="658368" cy="384048"/>
          </a:xfrm>
          <a:prstGeom prst="rect">
            <a:avLst/>
          </a:prstGeom>
          <a:solidFill>
            <a:srgbClr val="1C7DB9"/>
          </a:solidFill>
          <a:ln/>
        </p:spPr>
      </p:sp>
      <p:sp>
        <p:nvSpPr>
          <p:cNvPr id="116" name="Text 113"/>
          <p:cNvSpPr/>
          <p:nvPr/>
        </p:nvSpPr>
        <p:spPr>
          <a:xfrm>
            <a:off x="10570464" y="809244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</a:t>
            </a:r>
            <a:endParaRPr lang="en-US" sz="900" dirty="0"/>
          </a:p>
        </p:txBody>
      </p:sp>
      <p:sp>
        <p:nvSpPr>
          <p:cNvPr id="117" name="Shape 114"/>
          <p:cNvSpPr/>
          <p:nvPr/>
        </p:nvSpPr>
        <p:spPr>
          <a:xfrm>
            <a:off x="11311128" y="8074152"/>
            <a:ext cx="658368" cy="384048"/>
          </a:xfrm>
          <a:prstGeom prst="rect">
            <a:avLst/>
          </a:prstGeom>
          <a:solidFill>
            <a:srgbClr val="1D8FD6"/>
          </a:solidFill>
          <a:ln/>
        </p:spPr>
      </p:sp>
      <p:sp>
        <p:nvSpPr>
          <p:cNvPr id="118" name="Text 115"/>
          <p:cNvSpPr/>
          <p:nvPr/>
        </p:nvSpPr>
        <p:spPr>
          <a:xfrm>
            <a:off x="11283696" y="809244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n-US" sz="900" dirty="0"/>
          </a:p>
        </p:txBody>
      </p:sp>
      <p:sp>
        <p:nvSpPr>
          <p:cNvPr id="119" name="Shape 116"/>
          <p:cNvSpPr/>
          <p:nvPr/>
        </p:nvSpPr>
        <p:spPr>
          <a:xfrm>
            <a:off x="12024360" y="8074152"/>
            <a:ext cx="658368" cy="384048"/>
          </a:xfrm>
          <a:prstGeom prst="rect">
            <a:avLst/>
          </a:prstGeom>
          <a:solidFill>
            <a:srgbClr val="1D99E5"/>
          </a:solidFill>
          <a:ln/>
        </p:spPr>
      </p:sp>
      <p:sp>
        <p:nvSpPr>
          <p:cNvPr id="120" name="Text 117"/>
          <p:cNvSpPr/>
          <p:nvPr/>
        </p:nvSpPr>
        <p:spPr>
          <a:xfrm>
            <a:off x="11996928" y="809244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n-US" sz="900" dirty="0"/>
          </a:p>
        </p:txBody>
      </p:sp>
      <p:sp>
        <p:nvSpPr>
          <p:cNvPr id="121" name="Shape 118"/>
          <p:cNvSpPr/>
          <p:nvPr/>
        </p:nvSpPr>
        <p:spPr>
          <a:xfrm>
            <a:off x="12737592" y="8074152"/>
            <a:ext cx="658368" cy="384048"/>
          </a:xfrm>
          <a:prstGeom prst="rect">
            <a:avLst/>
          </a:prstGeom>
          <a:solidFill>
            <a:srgbClr val="1D99E6"/>
          </a:solidFill>
          <a:ln/>
        </p:spPr>
      </p:sp>
      <p:sp>
        <p:nvSpPr>
          <p:cNvPr id="122" name="Text 119"/>
          <p:cNvSpPr/>
          <p:nvPr/>
        </p:nvSpPr>
        <p:spPr>
          <a:xfrm>
            <a:off x="12710160" y="809244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n-US" sz="900" dirty="0"/>
          </a:p>
        </p:txBody>
      </p:sp>
      <p:sp>
        <p:nvSpPr>
          <p:cNvPr id="123" name="Text 120"/>
          <p:cNvSpPr/>
          <p:nvPr/>
        </p:nvSpPr>
        <p:spPr>
          <a:xfrm>
            <a:off x="9144000" y="86227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baixa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13057632" y="86227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</a:t>
            </a:r>
            <a:endParaRPr lang="en-US" sz="900" dirty="0"/>
          </a:p>
        </p:txBody>
      </p:sp>
      <p:sp>
        <p:nvSpPr>
          <p:cNvPr id="125" name="Shape 122"/>
          <p:cNvSpPr/>
          <p:nvPr/>
        </p:nvSpPr>
        <p:spPr>
          <a:xfrm>
            <a:off x="9601200" y="8668512"/>
            <a:ext cx="201168" cy="137160"/>
          </a:xfrm>
          <a:prstGeom prst="rect">
            <a:avLst/>
          </a:prstGeom>
          <a:solidFill>
            <a:srgbClr val="1A1E22"/>
          </a:solidFill>
          <a:ln/>
        </p:spPr>
      </p:sp>
      <p:sp>
        <p:nvSpPr>
          <p:cNvPr id="126" name="Shape 123"/>
          <p:cNvSpPr/>
          <p:nvPr/>
        </p:nvSpPr>
        <p:spPr>
          <a:xfrm>
            <a:off x="9802368" y="8668512"/>
            <a:ext cx="201168" cy="137160"/>
          </a:xfrm>
          <a:prstGeom prst="rect">
            <a:avLst/>
          </a:prstGeom>
          <a:solidFill>
            <a:srgbClr val="1A252D"/>
          </a:solidFill>
          <a:ln/>
        </p:spPr>
      </p:sp>
      <p:sp>
        <p:nvSpPr>
          <p:cNvPr id="127" name="Shape 124"/>
          <p:cNvSpPr/>
          <p:nvPr/>
        </p:nvSpPr>
        <p:spPr>
          <a:xfrm>
            <a:off x="10003536" y="8668512"/>
            <a:ext cx="201168" cy="137160"/>
          </a:xfrm>
          <a:prstGeom prst="rect">
            <a:avLst/>
          </a:prstGeom>
          <a:solidFill>
            <a:srgbClr val="1A2C38"/>
          </a:solidFill>
          <a:ln/>
        </p:spPr>
      </p:sp>
      <p:sp>
        <p:nvSpPr>
          <p:cNvPr id="128" name="Shape 125"/>
          <p:cNvSpPr/>
          <p:nvPr/>
        </p:nvSpPr>
        <p:spPr>
          <a:xfrm>
            <a:off x="10204704" y="8668512"/>
            <a:ext cx="201168" cy="137160"/>
          </a:xfrm>
          <a:prstGeom prst="rect">
            <a:avLst/>
          </a:prstGeom>
          <a:solidFill>
            <a:srgbClr val="1A3343"/>
          </a:solidFill>
          <a:ln/>
        </p:spPr>
      </p:sp>
      <p:sp>
        <p:nvSpPr>
          <p:cNvPr id="129" name="Shape 126"/>
          <p:cNvSpPr/>
          <p:nvPr/>
        </p:nvSpPr>
        <p:spPr>
          <a:xfrm>
            <a:off x="10405872" y="8668512"/>
            <a:ext cx="201168" cy="137160"/>
          </a:xfrm>
          <a:prstGeom prst="rect">
            <a:avLst/>
          </a:prstGeom>
          <a:solidFill>
            <a:srgbClr val="1B3A4E"/>
          </a:solidFill>
          <a:ln/>
        </p:spPr>
      </p:sp>
      <p:sp>
        <p:nvSpPr>
          <p:cNvPr id="130" name="Shape 127"/>
          <p:cNvSpPr/>
          <p:nvPr/>
        </p:nvSpPr>
        <p:spPr>
          <a:xfrm>
            <a:off x="10607040" y="8668512"/>
            <a:ext cx="201168" cy="137160"/>
          </a:xfrm>
          <a:prstGeom prst="rect">
            <a:avLst/>
          </a:prstGeom>
          <a:solidFill>
            <a:srgbClr val="1B4059"/>
          </a:solidFill>
          <a:ln/>
        </p:spPr>
      </p:sp>
      <p:sp>
        <p:nvSpPr>
          <p:cNvPr id="131" name="Shape 128"/>
          <p:cNvSpPr/>
          <p:nvPr/>
        </p:nvSpPr>
        <p:spPr>
          <a:xfrm>
            <a:off x="10808208" y="8668512"/>
            <a:ext cx="201168" cy="137160"/>
          </a:xfrm>
          <a:prstGeom prst="rect">
            <a:avLst/>
          </a:prstGeom>
          <a:solidFill>
            <a:srgbClr val="1B4764"/>
          </a:solidFill>
          <a:ln/>
        </p:spPr>
      </p:sp>
      <p:sp>
        <p:nvSpPr>
          <p:cNvPr id="132" name="Shape 129"/>
          <p:cNvSpPr/>
          <p:nvPr/>
        </p:nvSpPr>
        <p:spPr>
          <a:xfrm>
            <a:off x="11009376" y="8668512"/>
            <a:ext cx="201168" cy="137160"/>
          </a:xfrm>
          <a:prstGeom prst="rect">
            <a:avLst/>
          </a:prstGeom>
          <a:solidFill>
            <a:srgbClr val="1B4E6F"/>
          </a:solidFill>
          <a:ln/>
        </p:spPr>
      </p:sp>
      <p:sp>
        <p:nvSpPr>
          <p:cNvPr id="133" name="Shape 130"/>
          <p:cNvSpPr/>
          <p:nvPr/>
        </p:nvSpPr>
        <p:spPr>
          <a:xfrm>
            <a:off x="11210544" y="8668512"/>
            <a:ext cx="201168" cy="137160"/>
          </a:xfrm>
          <a:prstGeom prst="rect">
            <a:avLst/>
          </a:prstGeom>
          <a:solidFill>
            <a:srgbClr val="1B557A"/>
          </a:solidFill>
          <a:ln/>
        </p:spPr>
      </p:sp>
      <p:sp>
        <p:nvSpPr>
          <p:cNvPr id="134" name="Shape 131"/>
          <p:cNvSpPr/>
          <p:nvPr/>
        </p:nvSpPr>
        <p:spPr>
          <a:xfrm>
            <a:off x="11411712" y="8668512"/>
            <a:ext cx="201168" cy="137160"/>
          </a:xfrm>
          <a:prstGeom prst="rect">
            <a:avLst/>
          </a:prstGeom>
          <a:solidFill>
            <a:srgbClr val="1B5C85"/>
          </a:solidFill>
          <a:ln/>
        </p:spPr>
      </p:sp>
      <p:sp>
        <p:nvSpPr>
          <p:cNvPr id="135" name="Shape 132"/>
          <p:cNvSpPr/>
          <p:nvPr/>
        </p:nvSpPr>
        <p:spPr>
          <a:xfrm>
            <a:off x="11612880" y="8668512"/>
            <a:ext cx="201168" cy="137160"/>
          </a:xfrm>
          <a:prstGeom prst="rect">
            <a:avLst/>
          </a:prstGeom>
          <a:solidFill>
            <a:srgbClr val="1C638F"/>
          </a:solidFill>
          <a:ln/>
        </p:spPr>
      </p:sp>
      <p:sp>
        <p:nvSpPr>
          <p:cNvPr id="136" name="Shape 133"/>
          <p:cNvSpPr/>
          <p:nvPr/>
        </p:nvSpPr>
        <p:spPr>
          <a:xfrm>
            <a:off x="11814048" y="8668512"/>
            <a:ext cx="201168" cy="137160"/>
          </a:xfrm>
          <a:prstGeom prst="rect">
            <a:avLst/>
          </a:prstGeom>
          <a:solidFill>
            <a:srgbClr val="1C6A9A"/>
          </a:solidFill>
          <a:ln/>
        </p:spPr>
      </p:sp>
      <p:sp>
        <p:nvSpPr>
          <p:cNvPr id="137" name="Shape 134"/>
          <p:cNvSpPr/>
          <p:nvPr/>
        </p:nvSpPr>
        <p:spPr>
          <a:xfrm>
            <a:off x="12015216" y="8668512"/>
            <a:ext cx="201168" cy="137160"/>
          </a:xfrm>
          <a:prstGeom prst="rect">
            <a:avLst/>
          </a:prstGeom>
          <a:solidFill>
            <a:srgbClr val="1C71A5"/>
          </a:solidFill>
          <a:ln/>
        </p:spPr>
      </p:sp>
      <p:sp>
        <p:nvSpPr>
          <p:cNvPr id="138" name="Shape 135"/>
          <p:cNvSpPr/>
          <p:nvPr/>
        </p:nvSpPr>
        <p:spPr>
          <a:xfrm>
            <a:off x="12216384" y="8668512"/>
            <a:ext cx="201168" cy="137160"/>
          </a:xfrm>
          <a:prstGeom prst="rect">
            <a:avLst/>
          </a:prstGeom>
          <a:solidFill>
            <a:srgbClr val="1C78B0"/>
          </a:solidFill>
          <a:ln/>
        </p:spPr>
      </p:sp>
      <p:sp>
        <p:nvSpPr>
          <p:cNvPr id="139" name="Shape 136"/>
          <p:cNvSpPr/>
          <p:nvPr/>
        </p:nvSpPr>
        <p:spPr>
          <a:xfrm>
            <a:off x="12417552" y="8668512"/>
            <a:ext cx="201168" cy="137160"/>
          </a:xfrm>
          <a:prstGeom prst="rect">
            <a:avLst/>
          </a:prstGeom>
          <a:solidFill>
            <a:srgbClr val="1C7FBB"/>
          </a:solidFill>
          <a:ln/>
        </p:spPr>
      </p:sp>
      <p:sp>
        <p:nvSpPr>
          <p:cNvPr id="140" name="Shape 137"/>
          <p:cNvSpPr/>
          <p:nvPr/>
        </p:nvSpPr>
        <p:spPr>
          <a:xfrm>
            <a:off x="12618720" y="8668512"/>
            <a:ext cx="201168" cy="137160"/>
          </a:xfrm>
          <a:prstGeom prst="rect">
            <a:avLst/>
          </a:prstGeom>
          <a:solidFill>
            <a:srgbClr val="1C85C6"/>
          </a:solidFill>
          <a:ln/>
        </p:spPr>
      </p:sp>
      <p:sp>
        <p:nvSpPr>
          <p:cNvPr id="141" name="Shape 138"/>
          <p:cNvSpPr/>
          <p:nvPr/>
        </p:nvSpPr>
        <p:spPr>
          <a:xfrm>
            <a:off x="12819888" y="8668512"/>
            <a:ext cx="201168" cy="137160"/>
          </a:xfrm>
          <a:prstGeom prst="rect">
            <a:avLst/>
          </a:prstGeom>
          <a:solidFill>
            <a:srgbClr val="1D8CD1"/>
          </a:solidFill>
          <a:ln/>
        </p:spPr>
      </p:sp>
      <p:sp>
        <p:nvSpPr>
          <p:cNvPr id="142" name="Shape 139"/>
          <p:cNvSpPr/>
          <p:nvPr/>
        </p:nvSpPr>
        <p:spPr>
          <a:xfrm>
            <a:off x="13021056" y="8668512"/>
            <a:ext cx="201168" cy="137160"/>
          </a:xfrm>
          <a:prstGeom prst="rect">
            <a:avLst/>
          </a:prstGeom>
          <a:solidFill>
            <a:srgbClr val="1D93DC"/>
          </a:solidFill>
          <a:ln/>
        </p:spPr>
      </p:sp>
      <p:sp>
        <p:nvSpPr>
          <p:cNvPr id="143" name="Shape 140"/>
          <p:cNvSpPr/>
          <p:nvPr/>
        </p:nvSpPr>
        <p:spPr>
          <a:xfrm>
            <a:off x="13222224" y="8668512"/>
            <a:ext cx="201168" cy="137160"/>
          </a:xfrm>
          <a:prstGeom prst="rect">
            <a:avLst/>
          </a:prstGeom>
          <a:solidFill>
            <a:srgbClr val="1D9AE7"/>
          </a:solidFill>
          <a:ln/>
        </p:spPr>
      </p:sp>
      <p:sp>
        <p:nvSpPr>
          <p:cNvPr id="144" name="Shape 141"/>
          <p:cNvSpPr/>
          <p:nvPr/>
        </p:nvSpPr>
        <p:spPr>
          <a:xfrm>
            <a:off x="13423392" y="8668512"/>
            <a:ext cx="201168" cy="137160"/>
          </a:xfrm>
          <a:prstGeom prst="rect">
            <a:avLst/>
          </a:prstGeom>
          <a:solidFill>
            <a:srgbClr val="1DA1F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0" y="0"/>
            <a:ext cx="2834640" cy="2834640"/>
          </a:xfrm>
          <a:prstGeom prst="rect">
            <a:avLst/>
          </a:prstGeom>
          <a:solidFill>
            <a:srgbClr val="2279DF"/>
          </a:solidFill>
          <a:ln/>
        </p:spPr>
      </p:sp>
      <p:pic>
        <p:nvPicPr>
          <p:cNvPr id="3" name="Image 0" descr="C:\Users\Administrador\Desktop\Git Dobslit\Indorama\frontend\public\logo-dobs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555480"/>
            <a:ext cx="128016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19120" y="9646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dobslit.com  ·  Abril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EVOLUÇÃO DO PROJETO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1417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Próximas fases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1417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Cinco frentes de evolução para elevar o sistema a um patamar preditivo robusto, explicável e estratégico.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3474720"/>
            <a:ext cx="4617720" cy="2560320"/>
          </a:xfrm>
          <a:prstGeom prst="roundRect">
            <a:avLst>
              <a:gd name="adj" fmla="val 3571"/>
            </a:avLst>
          </a:prstGeom>
          <a:solidFill>
            <a:srgbClr val="F6F8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474720"/>
            <a:ext cx="182880" cy="2560320"/>
          </a:xfrm>
          <a:prstGeom prst="rect">
            <a:avLst/>
          </a:prstGeom>
          <a:solidFill>
            <a:srgbClr val="2279DF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43000" y="42062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Linha de tendência não-linear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43000" y="498348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além da regressão linear, com projeção e intervalo de confiança. Shelf life integrado combinando múltiplos ensaios.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32120" y="3474720"/>
            <a:ext cx="4617720" cy="2560320"/>
          </a:xfrm>
          <a:prstGeom prst="roundRect">
            <a:avLst>
              <a:gd name="adj" fmla="val 3571"/>
            </a:avLst>
          </a:prstGeom>
          <a:solidFill>
            <a:srgbClr val="F6F8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32120" y="3474720"/>
            <a:ext cx="182880" cy="2560320"/>
          </a:xfrm>
          <a:prstGeom prst="rect">
            <a:avLst/>
          </a:prstGeom>
          <a:solidFill>
            <a:srgbClr val="2279DF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943600" y="42062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Clusterização de perfis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943600" y="498348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K-Means · DBSCAN · hierárquico + UMAP. Subgrupos dentro de famílias e produtos anômalos. Modelos por cluster.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332720" y="3474720"/>
            <a:ext cx="4617720" cy="2560320"/>
          </a:xfrm>
          <a:prstGeom prst="roundRect">
            <a:avLst>
              <a:gd name="adj" fmla="val 3571"/>
            </a:avLst>
          </a:prstGeom>
          <a:solidFill>
            <a:srgbClr val="F6F8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332720" y="3474720"/>
            <a:ext cx="182880" cy="2560320"/>
          </a:xfrm>
          <a:prstGeom prst="rect">
            <a:avLst/>
          </a:prstGeom>
          <a:solidFill>
            <a:srgbClr val="2279DF"/>
          </a:solidFill>
          <a:ln/>
        </p:spPr>
      </p:sp>
      <p:sp>
        <p:nvSpPr>
          <p:cNvPr id="20" name="Text 17"/>
          <p:cNvSpPr/>
          <p:nvPr/>
        </p:nvSpPr>
        <p:spPr>
          <a:xfrm>
            <a:off x="10744200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0744200" y="42062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 de armazenamento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744200" y="498348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Temperatura, umidade, luz e embalagem como feature do modelo. Reavalia rankings de importância por condição.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057400" y="6217920"/>
            <a:ext cx="6995160" cy="2560320"/>
          </a:xfrm>
          <a:prstGeom prst="roundRect">
            <a:avLst>
              <a:gd name="adj" fmla="val 3571"/>
            </a:avLst>
          </a:prstGeom>
          <a:solidFill>
            <a:srgbClr val="F6F8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057400" y="6217920"/>
            <a:ext cx="182880" cy="256032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25" name="Text 22"/>
          <p:cNvSpPr/>
          <p:nvPr/>
        </p:nvSpPr>
        <p:spPr>
          <a:xfrm>
            <a:off x="2468880" y="6492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2468880" y="694944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molecular (SMILES)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2468880" y="7726680"/>
            <a:ext cx="6355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Relação estrutura química × shelf life. Predição para novos produtos ainda não testados em laboratório.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235440" y="6217920"/>
            <a:ext cx="6995160" cy="2560320"/>
          </a:xfrm>
          <a:prstGeom prst="roundRect">
            <a:avLst>
              <a:gd name="adj" fmla="val 3571"/>
            </a:avLst>
          </a:prstGeom>
          <a:solidFill>
            <a:srgbClr val="F6F8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235440" y="6217920"/>
            <a:ext cx="182880" cy="256032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30" name="Text 27"/>
          <p:cNvSpPr/>
          <p:nvPr/>
        </p:nvSpPr>
        <p:spPr>
          <a:xfrm>
            <a:off x="9646920" y="6492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9646920" y="694944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QML híbrido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646920" y="7726680"/>
            <a:ext cx="6355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Quantum Feature Selection em pipeline clássico-quântico. Captura de relações não-lineares complexas.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31520" y="9098280"/>
            <a:ext cx="1682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79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multidisciplinar (3 pessoas)  ·  Duração estimada de 5 meses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6560"/>
            <a:ext cx="3474720" cy="352044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0"/>
            <a:ext cx="1371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31520" y="512064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ShelfLife — Análise e Linha de Tendência</a:t>
            </a:r>
            <a:endParaRPr lang="en-US" sz="2800" dirty="0"/>
          </a:p>
        </p:txBody>
      </p:sp>
      <p:pic>
        <p:nvPicPr>
          <p:cNvPr id="5" name="Image 0" descr="C:\Users\Administrador\Desktop\Git Dobslit\Indorama\frontend\public\logo-indo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0" y="731520"/>
            <a:ext cx="45720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7132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DA1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0" y="7589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2 · ShelfLife Next Level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657600" y="8321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Vamos construir juntos.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258800" y="9235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desenvolvido por</a:t>
            </a:r>
            <a:endParaRPr lang="en-US" sz="1100" dirty="0"/>
          </a:p>
        </p:txBody>
      </p:sp>
      <p:pic>
        <p:nvPicPr>
          <p:cNvPr id="10" name="Image 1" descr="C:\Users\Administrador\Desktop\Git Dobslit\Indorama\Relatorios\logo-dobsli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0" y="9464040"/>
            <a:ext cx="219456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Dobslit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ShelfLife — Análise e Linha de Tendência</dc:title>
  <dc:subject>Entrega Indovinya</dc:subject>
  <dc:creator>Dobslit</dc:creator>
  <cp:lastModifiedBy>Dobslit</cp:lastModifiedBy>
  <cp:revision>1</cp:revision>
  <dcterms:created xsi:type="dcterms:W3CDTF">2026-04-24T04:30:33Z</dcterms:created>
  <dcterms:modified xsi:type="dcterms:W3CDTF">2026-04-24T04:30:33Z</dcterms:modified>
</cp:coreProperties>
</file>