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3"/>
  </p:notesMasterIdLst>
  <p:sldIdLst>
    <p:sldId id="256" r:id="rId5"/>
    <p:sldId id="257" r:id="rId6"/>
    <p:sldId id="260" r:id="rId7"/>
    <p:sldId id="279" r:id="rId8"/>
    <p:sldId id="277" r:id="rId9"/>
    <p:sldId id="274" r:id="rId10"/>
    <p:sldId id="280" r:id="rId11"/>
    <p:sldId id="276" r:id="rId12"/>
  </p:sldIdLst>
  <p:sldSz cx="18288000" cy="10287000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BBEC3B-95A4-438E-9557-5B483A9C6F41}" v="4" dt="2026-04-14T21:14:30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 DANTAS BENEVIDES COSTA" userId="8b05b319-fbe7-4b84-986f-302de73445be" providerId="ADAL" clId="{9DAEB305-88CA-4D18-A5C9-6F940E012CE9}"/>
    <pc:docChg chg="undo custSel delSld modSld">
      <pc:chgData name="ARTHUR DANTAS BENEVIDES COSTA" userId="8b05b319-fbe7-4b84-986f-302de73445be" providerId="ADAL" clId="{9DAEB305-88CA-4D18-A5C9-6F940E012CE9}" dt="2026-04-14T21:16:19.496" v="79" actId="20577"/>
      <pc:docMkLst>
        <pc:docMk/>
      </pc:docMkLst>
      <pc:sldChg chg="modSp mod">
        <pc:chgData name="ARTHUR DANTAS BENEVIDES COSTA" userId="8b05b319-fbe7-4b84-986f-302de73445be" providerId="ADAL" clId="{9DAEB305-88CA-4D18-A5C9-6F940E012CE9}" dt="2026-04-14T21:16:19.496" v="79" actId="20577"/>
        <pc:sldMkLst>
          <pc:docMk/>
          <pc:sldMk cId="0" sldId="257"/>
        </pc:sldMkLst>
        <pc:spChg chg="mod">
          <ac:chgData name="ARTHUR DANTAS BENEVIDES COSTA" userId="8b05b319-fbe7-4b84-986f-302de73445be" providerId="ADAL" clId="{9DAEB305-88CA-4D18-A5C9-6F940E012CE9}" dt="2026-04-14T21:16:19.496" v="79" actId="20577"/>
          <ac:spMkLst>
            <pc:docMk/>
            <pc:sldMk cId="0" sldId="257"/>
            <ac:spMk id="107" creationId="{00000000-0000-0000-0000-000000000000}"/>
          </ac:spMkLst>
        </pc:spChg>
        <pc:spChg chg="mod">
          <ac:chgData name="ARTHUR DANTAS BENEVIDES COSTA" userId="8b05b319-fbe7-4b84-986f-302de73445be" providerId="ADAL" clId="{9DAEB305-88CA-4D18-A5C9-6F940E012CE9}" dt="2026-04-14T21:13:16.182" v="46" actId="1076"/>
          <ac:spMkLst>
            <pc:docMk/>
            <pc:sldMk cId="0" sldId="257"/>
            <ac:spMk id="110" creationId="{00000000-0000-0000-0000-000000000000}"/>
          </ac:spMkLst>
        </pc:spChg>
        <pc:spChg chg="mod">
          <ac:chgData name="ARTHUR DANTAS BENEVIDES COSTA" userId="8b05b319-fbe7-4b84-986f-302de73445be" providerId="ADAL" clId="{9DAEB305-88CA-4D18-A5C9-6F940E012CE9}" dt="2026-04-14T21:13:18.805" v="47" actId="1076"/>
          <ac:spMkLst>
            <pc:docMk/>
            <pc:sldMk cId="0" sldId="257"/>
            <ac:spMk id="111" creationId="{00000000-0000-0000-0000-000000000000}"/>
          </ac:spMkLst>
        </pc:spChg>
      </pc:sldChg>
      <pc:sldChg chg="del">
        <pc:chgData name="ARTHUR DANTAS BENEVIDES COSTA" userId="8b05b319-fbe7-4b84-986f-302de73445be" providerId="ADAL" clId="{9DAEB305-88CA-4D18-A5C9-6F940E012CE9}" dt="2026-04-14T21:13:40.372" v="59" actId="2696"/>
        <pc:sldMkLst>
          <pc:docMk/>
          <pc:sldMk cId="0" sldId="258"/>
        </pc:sldMkLst>
      </pc:sldChg>
      <pc:sldChg chg="modSp mod">
        <pc:chgData name="ARTHUR DANTAS BENEVIDES COSTA" userId="8b05b319-fbe7-4b84-986f-302de73445be" providerId="ADAL" clId="{9DAEB305-88CA-4D18-A5C9-6F940E012CE9}" dt="2026-04-14T21:14:05.062" v="61" actId="113"/>
        <pc:sldMkLst>
          <pc:docMk/>
          <pc:sldMk cId="322274042" sldId="280"/>
        </pc:sldMkLst>
        <pc:spChg chg="mod">
          <ac:chgData name="ARTHUR DANTAS BENEVIDES COSTA" userId="8b05b319-fbe7-4b84-986f-302de73445be" providerId="ADAL" clId="{9DAEB305-88CA-4D18-A5C9-6F940E012CE9}" dt="2026-04-14T21:14:05.062" v="61" actId="113"/>
          <ac:spMkLst>
            <pc:docMk/>
            <pc:sldMk cId="322274042" sldId="280"/>
            <ac:spMk id="253" creationId="{4F74CA0E-305D-7886-EFB0-57B0060427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60278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321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937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7997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940240F0-4158-04A1-21F0-01EED053A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EFA6BEAD-F396-E431-19B2-1F2BF5DD25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5:notes">
            <a:extLst>
              <a:ext uri="{FF2B5EF4-FFF2-40B4-BE49-F238E27FC236}">
                <a16:creationId xmlns:a16="http://schemas.microsoft.com/office/drawing/2014/main" id="{F8C14BD8-39AA-FD97-824B-18AC99A7C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2374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0578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3705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3F3D8F4D-49D2-6D00-E70A-ED92BD0A1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>
            <a:extLst>
              <a:ext uri="{FF2B5EF4-FFF2-40B4-BE49-F238E27FC236}">
                <a16:creationId xmlns:a16="http://schemas.microsoft.com/office/drawing/2014/main" id="{D9ED77A2-B165-4415-A64C-F2B658E62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9:notes">
            <a:extLst>
              <a:ext uri="{FF2B5EF4-FFF2-40B4-BE49-F238E27FC236}">
                <a16:creationId xmlns:a16="http://schemas.microsoft.com/office/drawing/2014/main" id="{CFAE85D4-FADA-5305-AF03-59F261903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8412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686987a67_0_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66" name="Google Shape;266;g39686987a67_0_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7" name="Google Shape;267;g39686987a67_0_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39686987a67_0_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g39686987a67_0_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70" name="Google Shape;270;g39686987a67_0_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1387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6790472"/>
            <a:ext cx="3502132" cy="3496528"/>
          </a:xfrm>
          <a:custGeom>
            <a:avLst/>
            <a:gdLst/>
            <a:ahLst/>
            <a:cxnLst/>
            <a:rect l="l" t="t" r="r" b="b"/>
            <a:pathLst>
              <a:path w="6350000" h="6339840" extrusionOk="0">
                <a:moveTo>
                  <a:pt x="6350000" y="6339840"/>
                </a:moveTo>
                <a:lnTo>
                  <a:pt x="0" y="6339840"/>
                </a:lnTo>
                <a:lnTo>
                  <a:pt x="0" y="0"/>
                </a:lnTo>
                <a:lnTo>
                  <a:pt x="6350000" y="6339840"/>
                </a:lnTo>
                <a:close/>
              </a:path>
            </a:pathLst>
          </a:custGeom>
          <a:solidFill>
            <a:srgbClr val="1DA1F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3" name="Google Shape;93;p13"/>
          <p:cNvSpPr txBox="1"/>
          <p:nvPr/>
        </p:nvSpPr>
        <p:spPr>
          <a:xfrm>
            <a:off x="1028700" y="1028700"/>
            <a:ext cx="11275080" cy="260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89"/>
              <a:buFont typeface="Arial"/>
              <a:buNone/>
            </a:pPr>
            <a:r>
              <a:rPr lang="pt-BR" sz="8089" b="1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ShelfLife</a:t>
            </a:r>
            <a:r>
              <a:rPr lang="pt-BR" sz="8089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Next </a:t>
            </a:r>
            <a:r>
              <a:rPr lang="pt-BR" sz="8089" b="1" i="0" u="none" strike="noStrike" cap="none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Level</a:t>
            </a:r>
            <a:r>
              <a:rPr lang="pt-BR" sz="8089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pt-BR" sz="1400" b="0" i="0" u="none" strike="noStrike" cap="none">
              <a:solidFill>
                <a:srgbClr val="000000"/>
              </a:solidFill>
              <a:sym typeface="Arial"/>
            </a:endParaRPr>
          </a:p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89"/>
              <a:buFont typeface="Arial"/>
              <a:buNone/>
            </a:pPr>
            <a:r>
              <a:rPr lang="pt-BR" sz="6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Proposta para </a:t>
            </a:r>
            <a:r>
              <a:rPr lang="pt-BR" sz="600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Indovinya</a:t>
            </a:r>
            <a:endParaRPr lang="pt-BR" sz="10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grpSp>
        <p:nvGrpSpPr>
          <p:cNvPr id="94" name="Google Shape;94;p13"/>
          <p:cNvGrpSpPr/>
          <p:nvPr/>
        </p:nvGrpSpPr>
        <p:grpSpPr>
          <a:xfrm>
            <a:off x="11840477" y="-895577"/>
            <a:ext cx="8072794" cy="6491502"/>
            <a:chOff x="0" y="0"/>
            <a:chExt cx="10763726" cy="8655336"/>
          </a:xfrm>
        </p:grpSpPr>
        <p:sp>
          <p:nvSpPr>
            <p:cNvPr id="95" name="Google Shape;95;p13"/>
            <p:cNvSpPr/>
            <p:nvPr/>
          </p:nvSpPr>
          <p:spPr>
            <a:xfrm rot="2700000">
              <a:off x="5010073" y="5221574"/>
              <a:ext cx="6125442" cy="1485661"/>
            </a:xfrm>
            <a:custGeom>
              <a:avLst/>
              <a:gdLst/>
              <a:ahLst/>
              <a:cxnLst/>
              <a:rect l="l" t="t" r="r" b="b"/>
              <a:pathLst>
                <a:path w="26301750" h="6379210" extrusionOk="0">
                  <a:moveTo>
                    <a:pt x="19619477" y="0"/>
                  </a:moveTo>
                  <a:lnTo>
                    <a:pt x="7607643" y="0"/>
                  </a:lnTo>
                  <a:lnTo>
                    <a:pt x="6706792" y="7620"/>
                  </a:lnTo>
                  <a:lnTo>
                    <a:pt x="0" y="6379210"/>
                  </a:lnTo>
                  <a:lnTo>
                    <a:pt x="19655841" y="6379210"/>
                  </a:lnTo>
                  <a:lnTo>
                    <a:pt x="26301750" y="0"/>
                  </a:lnTo>
                  <a:close/>
                </a:path>
              </a:pathLst>
            </a:custGeom>
            <a:solidFill>
              <a:srgbClr val="1DA1F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3"/>
            <p:cNvSpPr/>
            <p:nvPr/>
          </p:nvSpPr>
          <p:spPr>
            <a:xfrm rot="2700000">
              <a:off x="3946191" y="2040224"/>
              <a:ext cx="6125442" cy="1485661"/>
            </a:xfrm>
            <a:custGeom>
              <a:avLst/>
              <a:gdLst/>
              <a:ahLst/>
              <a:cxnLst/>
              <a:rect l="l" t="t" r="r" b="b"/>
              <a:pathLst>
                <a:path w="26301750" h="6379210" extrusionOk="0">
                  <a:moveTo>
                    <a:pt x="19619477" y="0"/>
                  </a:moveTo>
                  <a:lnTo>
                    <a:pt x="7607643" y="0"/>
                  </a:lnTo>
                  <a:lnTo>
                    <a:pt x="6706792" y="7620"/>
                  </a:lnTo>
                  <a:lnTo>
                    <a:pt x="0" y="6379210"/>
                  </a:lnTo>
                  <a:lnTo>
                    <a:pt x="19655841" y="6379210"/>
                  </a:lnTo>
                  <a:lnTo>
                    <a:pt x="26301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7" name="Google Shape;97;p13"/>
            <p:cNvSpPr/>
            <p:nvPr/>
          </p:nvSpPr>
          <p:spPr>
            <a:xfrm rot="2700000">
              <a:off x="-371790" y="1948101"/>
              <a:ext cx="6125442" cy="1485661"/>
            </a:xfrm>
            <a:custGeom>
              <a:avLst/>
              <a:gdLst/>
              <a:ahLst/>
              <a:cxnLst/>
              <a:rect l="l" t="t" r="r" b="b"/>
              <a:pathLst>
                <a:path w="26301750" h="6379210" extrusionOk="0">
                  <a:moveTo>
                    <a:pt x="19619477" y="0"/>
                  </a:moveTo>
                  <a:lnTo>
                    <a:pt x="7607643" y="0"/>
                  </a:lnTo>
                  <a:lnTo>
                    <a:pt x="6706792" y="7620"/>
                  </a:lnTo>
                  <a:lnTo>
                    <a:pt x="0" y="6379210"/>
                  </a:lnTo>
                  <a:lnTo>
                    <a:pt x="19655841" y="6379210"/>
                  </a:lnTo>
                  <a:lnTo>
                    <a:pt x="26301750" y="0"/>
                  </a:lnTo>
                  <a:close/>
                </a:path>
              </a:pathLst>
            </a:custGeom>
            <a:solidFill>
              <a:srgbClr val="1DA1F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8" name="Google Shape;98;p13"/>
          <p:cNvSpPr/>
          <p:nvPr/>
        </p:nvSpPr>
        <p:spPr>
          <a:xfrm>
            <a:off x="12303780" y="6613413"/>
            <a:ext cx="4955520" cy="1090214"/>
          </a:xfrm>
          <a:custGeom>
            <a:avLst/>
            <a:gdLst/>
            <a:ahLst/>
            <a:cxnLst/>
            <a:rect l="l" t="t" r="r" b="b"/>
            <a:pathLst>
              <a:path w="4955520" h="1090214" extrusionOk="0">
                <a:moveTo>
                  <a:pt x="0" y="0"/>
                </a:moveTo>
                <a:lnTo>
                  <a:pt x="4955520" y="0"/>
                </a:lnTo>
                <a:lnTo>
                  <a:pt x="4955520" y="1090215"/>
                </a:lnTo>
                <a:lnTo>
                  <a:pt x="0" y="10902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99" name="Google Shape;99;p13"/>
          <p:cNvGrpSpPr/>
          <p:nvPr/>
        </p:nvGrpSpPr>
        <p:grpSpPr>
          <a:xfrm>
            <a:off x="6910543" y="8255324"/>
            <a:ext cx="10348757" cy="1132613"/>
            <a:chOff x="0" y="-69497"/>
            <a:chExt cx="13798342" cy="1510150"/>
          </a:xfrm>
        </p:grpSpPr>
        <p:sp>
          <p:nvSpPr>
            <p:cNvPr id="100" name="Google Shape;100;p13"/>
            <p:cNvSpPr txBox="1"/>
            <p:nvPr/>
          </p:nvSpPr>
          <p:spPr>
            <a:xfrm>
              <a:off x="0" y="-69497"/>
              <a:ext cx="13798342" cy="903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3998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46"/>
                <a:buFont typeface="Arial"/>
                <a:buNone/>
              </a:pPr>
              <a:r>
                <a:rPr lang="en-US" sz="3146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Abril de 2026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1639253" y="752089"/>
              <a:ext cx="12159089" cy="6885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7"/>
                <a:buFont typeface="Arial"/>
                <a:buNone/>
              </a:pPr>
              <a:r>
                <a:rPr lang="en-US" sz="2397" b="0" i="0" u="none" strike="noStrike" cap="none" err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Equipe</a:t>
              </a:r>
              <a:r>
                <a:rPr lang="en-US" sz="2397" b="0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Indorama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/>
        </p:nvSpPr>
        <p:spPr>
          <a:xfrm>
            <a:off x="1028700" y="1028700"/>
            <a:ext cx="162306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5"/>
              <a:buFont typeface="Arial"/>
              <a:buNone/>
            </a:pPr>
            <a:r>
              <a:rPr lang="en-US" sz="5400" b="1" i="0" u="none" strike="noStrike" cap="none" dirty="0" err="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Proposta</a:t>
            </a:r>
            <a:endParaRPr sz="5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028700" y="2053416"/>
            <a:ext cx="11143800" cy="661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9"/>
              </a:lnSpc>
              <a:buSzPts val="2999"/>
            </a:pPr>
            <a:r>
              <a:rPr lang="pt-BR" sz="2950" b="1" i="0" u="none" strike="noStrike" cap="none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Equipe e duração</a:t>
            </a:r>
          </a:p>
          <a:p>
            <a:pPr marL="34290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i="0" u="none" strike="noStrike" cap="none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Time multidisciplinar (3 pessoas)</a:t>
            </a:r>
          </a:p>
          <a:p>
            <a:pPr marL="34290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i="0" u="none" strike="noStrike" cap="none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Projeto com duração de 5 meses</a:t>
            </a:r>
          </a:p>
          <a:p>
            <a:pPr>
              <a:lnSpc>
                <a:spcPct val="130009"/>
              </a:lnSpc>
              <a:buSzPts val="2999"/>
            </a:pPr>
            <a:endParaRPr lang="pt-BR" sz="2200" dirty="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30009"/>
              </a:lnSpc>
              <a:buSzPts val="2999"/>
            </a:pPr>
            <a:r>
              <a:rPr lang="pt-BR" sz="2950" b="1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Entregas principais</a:t>
            </a:r>
          </a:p>
          <a:p>
            <a:pPr marL="34290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Modelos preditivos de </a:t>
            </a:r>
            <a:r>
              <a:rPr lang="pt-BR" sz="2200" dirty="0" err="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Shelf</a:t>
            </a:r>
            <a:r>
              <a:rPr lang="pt-BR" sz="2200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Life mais robustos</a:t>
            </a:r>
          </a:p>
          <a:p>
            <a:pPr marL="34290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Identificação de ensaios críticos por produto/família</a:t>
            </a:r>
          </a:p>
          <a:p>
            <a:pPr marL="34290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Clusterização de perfis de degradação</a:t>
            </a:r>
          </a:p>
          <a:p>
            <a:pPr marL="34290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Evolução da modelagem (não-linear e integrada)</a:t>
            </a:r>
          </a:p>
          <a:p>
            <a:pPr marL="34290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Base para integração de QML (abordagem híbrida)</a:t>
            </a:r>
          </a:p>
          <a:p>
            <a:pPr>
              <a:lnSpc>
                <a:spcPct val="130009"/>
              </a:lnSpc>
              <a:buSzPts val="2999"/>
            </a:pPr>
            <a:endParaRPr lang="pt-BR" sz="2200" dirty="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30009"/>
              </a:lnSpc>
              <a:buSzPts val="2999"/>
            </a:pPr>
            <a:r>
              <a:rPr lang="pt-BR" sz="2950" b="1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Evolução diferencial</a:t>
            </a:r>
          </a:p>
          <a:p>
            <a:pPr marL="34290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Integração com estrutura molecular (SMILES)</a:t>
            </a:r>
          </a:p>
          <a:p>
            <a:pPr marL="34290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Suporte à análise de novos produtos</a:t>
            </a:r>
          </a:p>
        </p:txBody>
      </p:sp>
      <p:sp>
        <p:nvSpPr>
          <p:cNvPr id="108" name="Google Shape;108;p14"/>
          <p:cNvSpPr/>
          <p:nvPr/>
        </p:nvSpPr>
        <p:spPr>
          <a:xfrm rot="10800000">
            <a:off x="15776753" y="0"/>
            <a:ext cx="2813682" cy="2809180"/>
          </a:xfrm>
          <a:custGeom>
            <a:avLst/>
            <a:gdLst/>
            <a:ahLst/>
            <a:cxnLst/>
            <a:rect l="l" t="t" r="r" b="b"/>
            <a:pathLst>
              <a:path w="6350000" h="6339840" extrusionOk="0">
                <a:moveTo>
                  <a:pt x="6350000" y="6339840"/>
                </a:moveTo>
                <a:lnTo>
                  <a:pt x="0" y="6339840"/>
                </a:lnTo>
                <a:lnTo>
                  <a:pt x="0" y="0"/>
                </a:lnTo>
                <a:lnTo>
                  <a:pt x="6350000" y="6339840"/>
                </a:lnTo>
                <a:close/>
              </a:path>
            </a:pathLst>
          </a:custGeom>
          <a:solidFill>
            <a:srgbClr val="2279D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9" name="Google Shape;109;p14"/>
          <p:cNvSpPr/>
          <p:nvPr/>
        </p:nvSpPr>
        <p:spPr>
          <a:xfrm>
            <a:off x="506329" y="9105346"/>
            <a:ext cx="3185382" cy="793450"/>
          </a:xfrm>
          <a:custGeom>
            <a:avLst/>
            <a:gdLst/>
            <a:ahLst/>
            <a:cxnLst/>
            <a:rect l="l" t="t" r="r" b="b"/>
            <a:pathLst>
              <a:path w="3185382" h="793450" extrusionOk="0">
                <a:moveTo>
                  <a:pt x="0" y="0"/>
                </a:moveTo>
                <a:lnTo>
                  <a:pt x="3185383" y="0"/>
                </a:lnTo>
                <a:lnTo>
                  <a:pt x="3185383" y="793450"/>
                </a:lnTo>
                <a:lnTo>
                  <a:pt x="0" y="793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0" name="Google Shape;110;p14"/>
          <p:cNvSpPr/>
          <p:nvPr/>
        </p:nvSpPr>
        <p:spPr>
          <a:xfrm>
            <a:off x="13676389" y="2498233"/>
            <a:ext cx="2184209" cy="2240215"/>
          </a:xfrm>
          <a:custGeom>
            <a:avLst/>
            <a:gdLst/>
            <a:ahLst/>
            <a:cxnLst/>
            <a:rect l="l" t="t" r="r" b="b"/>
            <a:pathLst>
              <a:path w="2184209" h="2240215" extrusionOk="0">
                <a:moveTo>
                  <a:pt x="0" y="0"/>
                </a:moveTo>
                <a:lnTo>
                  <a:pt x="2184209" y="0"/>
                </a:lnTo>
                <a:lnTo>
                  <a:pt x="2184209" y="2240214"/>
                </a:lnTo>
                <a:lnTo>
                  <a:pt x="0" y="2240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1" name="Google Shape;111;p14"/>
          <p:cNvSpPr/>
          <p:nvPr/>
        </p:nvSpPr>
        <p:spPr>
          <a:xfrm>
            <a:off x="12972655" y="5944385"/>
            <a:ext cx="3591675" cy="2437629"/>
          </a:xfrm>
          <a:custGeom>
            <a:avLst/>
            <a:gdLst/>
            <a:ahLst/>
            <a:cxnLst/>
            <a:rect l="l" t="t" r="r" b="b"/>
            <a:pathLst>
              <a:path w="3591675" h="2437629" extrusionOk="0">
                <a:moveTo>
                  <a:pt x="0" y="0"/>
                </a:moveTo>
                <a:lnTo>
                  <a:pt x="3591675" y="0"/>
                </a:lnTo>
                <a:lnTo>
                  <a:pt x="3591675" y="2437629"/>
                </a:lnTo>
                <a:lnTo>
                  <a:pt x="0" y="2437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1028700" y="1028700"/>
            <a:ext cx="162306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buSzPts val="7625"/>
            </a:pPr>
            <a:r>
              <a:rPr lang="en-US" sz="5400" b="1" dirty="0" err="1">
                <a:solidFill>
                  <a:srgbClr val="1E1E1E"/>
                </a:solidFill>
                <a:latin typeface="Montserrat"/>
                <a:sym typeface="Montserrat"/>
              </a:rPr>
              <a:t>Linha</a:t>
            </a:r>
            <a:r>
              <a:rPr lang="en-US" sz="5400" b="1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5400" b="1" dirty="0" err="1">
                <a:solidFill>
                  <a:srgbClr val="1E1E1E"/>
                </a:solidFill>
                <a:latin typeface="Montserrat"/>
                <a:sym typeface="Montserrat"/>
              </a:rPr>
              <a:t>Tendência</a:t>
            </a:r>
            <a:endParaRPr sz="5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1027077" y="2807481"/>
            <a:ext cx="16230600" cy="584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n-US" sz="2200" b="1" dirty="0" err="1">
                <a:solidFill>
                  <a:srgbClr val="1E1E1E"/>
                </a:solidFill>
                <a:latin typeface="Montserrat"/>
                <a:sym typeface="Montserrat"/>
              </a:rPr>
              <a:t>Evolução</a:t>
            </a:r>
            <a:r>
              <a:rPr lang="en-US" sz="2200" b="1" dirty="0">
                <a:solidFill>
                  <a:srgbClr val="1E1E1E"/>
                </a:solidFill>
                <a:latin typeface="Montserrat"/>
                <a:sym typeface="Montserrat"/>
              </a:rPr>
              <a:t> da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sym typeface="Montserrat"/>
              </a:rPr>
              <a:t>linha</a:t>
            </a:r>
            <a:r>
              <a:rPr lang="en-US" sz="2200" b="1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sym typeface="Montserrat"/>
              </a:rPr>
              <a:t>tendência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—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modelar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trajetória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temporal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cada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ensaio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ao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longo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estudo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estabilidade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indo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além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regressão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linear simples.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Ajustar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modelos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que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capturem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comportamentos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não-lineares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(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degradação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acelerada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estabilização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mudança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de regime) 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projetar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tendência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para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além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último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ponto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observado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, com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intervalo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confiança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;</a:t>
            </a:r>
            <a:endParaRPr lang="en-US" sz="2200" dirty="0">
              <a:solidFill>
                <a:srgbClr val="1E1E1E"/>
              </a:solidFill>
              <a:latin typeface="Montserrat"/>
            </a:endParaRPr>
          </a:p>
          <a:p>
            <a:pPr algn="just"/>
            <a:endParaRPr lang="en-US" sz="2200" dirty="0">
              <a:solidFill>
                <a:srgbClr val="1E1E1E"/>
              </a:solidFill>
              <a:latin typeface="Montserrat"/>
              <a:ea typeface="Montserrat"/>
            </a:endParaRPr>
          </a:p>
          <a:p>
            <a:pPr algn="just"/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</a:rPr>
              <a:t>Cálculo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</a:rPr>
              <a:t>completo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</a:rPr>
              <a:t> de Shelf Life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</a:rPr>
              <a:t>unindo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</a:rPr>
              <a:t>os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</a:rPr>
              <a:t>ensaios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</a:rPr>
              <a:t>relevantes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—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combinar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as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linhas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tendência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múltiplos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ensaios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em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um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modelo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integrado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que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estime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o shelf life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como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momento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em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que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primeiro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ensaio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crítico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cruza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seu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limite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especificação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. Em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vez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olhar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cada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ensaio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isoladamente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considerar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comportamento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conjunto — um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produto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pode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ter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água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estável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mas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cor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se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degradando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, e o shelf life é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ditado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pelo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ensaio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que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falha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primeiro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;</a:t>
            </a:r>
            <a:endParaRPr lang="en-US" sz="2200" dirty="0">
              <a:solidFill>
                <a:srgbClr val="1E1E1E"/>
              </a:solidFill>
              <a:latin typeface="Montserrat"/>
            </a:endParaRPr>
          </a:p>
          <a:p>
            <a:pPr algn="just"/>
            <a:endParaRPr lang="en-US" sz="2200" dirty="0">
              <a:solidFill>
                <a:srgbClr val="1E1E1E"/>
              </a:solidFill>
              <a:latin typeface="Montserrat"/>
              <a:ea typeface="Montserrat"/>
            </a:endParaRPr>
          </a:p>
          <a:p>
            <a:pPr algn="just"/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</a:rPr>
              <a:t>Análise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</a:rPr>
              <a:t> de Shelf Life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</a:rPr>
              <a:t>por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</a:rPr>
              <a:t>família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</a:rPr>
              <a:t> e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</a:rPr>
              <a:t>ensaio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—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gerar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visualizações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comparativas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das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tendências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por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família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identificando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quais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ensaios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são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primeiros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a se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aproximar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do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limite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em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cada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grupo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produtos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.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Isso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permite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responder de forma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direta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: "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nesta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família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, qual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ensaio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tipicamente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limita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o shelf life?" e "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em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quanto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tempo,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na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tendência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atual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, esse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ensaio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atinge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limite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?".</a:t>
            </a:r>
            <a:endParaRPr lang="pt-BR" sz="2200" dirty="0">
              <a:latin typeface="Montserrat"/>
            </a:endParaRPr>
          </a:p>
          <a:p>
            <a:pPr>
              <a:lnSpc>
                <a:spcPct val="130009"/>
              </a:lnSpc>
              <a:buSzPts val="2999"/>
            </a:pPr>
            <a:endParaRPr lang="en-US" sz="2950" b="1" dirty="0">
              <a:solidFill>
                <a:srgbClr val="1E1E1E"/>
              </a:solidFill>
              <a:ea typeface="Montserrat"/>
            </a:endParaRPr>
          </a:p>
          <a:p>
            <a:pPr marL="0" marR="0" lvl="0" indent="0" algn="l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lang="en-US" sz="2550" b="0" i="0" u="none" strike="noStrike" cap="none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2550" b="0" i="0" u="none" strike="noStrike" cap="none" dirty="0">
              <a:solidFill>
                <a:srgbClr val="1E1E1E"/>
              </a:solidFill>
              <a:latin typeface="Montserrat"/>
            </a:endParaRPr>
          </a:p>
        </p:txBody>
      </p:sp>
      <p:sp>
        <p:nvSpPr>
          <p:cNvPr id="135" name="Google Shape;135;p17"/>
          <p:cNvSpPr/>
          <p:nvPr/>
        </p:nvSpPr>
        <p:spPr>
          <a:xfrm rot="10800000">
            <a:off x="15776753" y="0"/>
            <a:ext cx="2813682" cy="2809180"/>
          </a:xfrm>
          <a:custGeom>
            <a:avLst/>
            <a:gdLst/>
            <a:ahLst/>
            <a:cxnLst/>
            <a:rect l="l" t="t" r="r" b="b"/>
            <a:pathLst>
              <a:path w="6350000" h="6339840" extrusionOk="0">
                <a:moveTo>
                  <a:pt x="6350000" y="6339840"/>
                </a:moveTo>
                <a:lnTo>
                  <a:pt x="0" y="6339840"/>
                </a:lnTo>
                <a:lnTo>
                  <a:pt x="0" y="0"/>
                </a:lnTo>
                <a:lnTo>
                  <a:pt x="6350000" y="6339840"/>
                </a:lnTo>
                <a:close/>
              </a:path>
            </a:pathLst>
          </a:custGeom>
          <a:solidFill>
            <a:srgbClr val="2279D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6" name="Google Shape;136;p17"/>
          <p:cNvSpPr/>
          <p:nvPr/>
        </p:nvSpPr>
        <p:spPr>
          <a:xfrm>
            <a:off x="506329" y="9105346"/>
            <a:ext cx="3185382" cy="793450"/>
          </a:xfrm>
          <a:custGeom>
            <a:avLst/>
            <a:gdLst/>
            <a:ahLst/>
            <a:cxnLst/>
            <a:rect l="l" t="t" r="r" b="b"/>
            <a:pathLst>
              <a:path w="3185382" h="793450" extrusionOk="0">
                <a:moveTo>
                  <a:pt x="0" y="0"/>
                </a:moveTo>
                <a:lnTo>
                  <a:pt x="3185383" y="0"/>
                </a:lnTo>
                <a:lnTo>
                  <a:pt x="3185383" y="793450"/>
                </a:lnTo>
                <a:lnTo>
                  <a:pt x="0" y="793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C96CA93B-A1D5-64C2-C43F-1FF00B2E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>
            <a:extLst>
              <a:ext uri="{FF2B5EF4-FFF2-40B4-BE49-F238E27FC236}">
                <a16:creationId xmlns:a16="http://schemas.microsoft.com/office/drawing/2014/main" id="{1ECED6EF-4D29-2BBA-EBA8-8A0AA8FE9488}"/>
              </a:ext>
            </a:extLst>
          </p:cNvPr>
          <p:cNvSpPr txBox="1"/>
          <p:nvPr/>
        </p:nvSpPr>
        <p:spPr>
          <a:xfrm>
            <a:off x="1027077" y="3177898"/>
            <a:ext cx="16230600" cy="48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30009"/>
              </a:lnSpc>
            </a:pPr>
            <a:r>
              <a:rPr lang="en-US" sz="2200" b="1" dirty="0">
                <a:solidFill>
                  <a:srgbClr val="1E1E1E"/>
                </a:solidFill>
                <a:latin typeface="Montserrat"/>
                <a:sym typeface="Montserrat"/>
              </a:rPr>
              <a:t>Por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sym typeface="Montserrat"/>
              </a:rPr>
              <a:t>quê</a:t>
            </a:r>
            <a:r>
              <a:rPr lang="en-US" sz="2200" b="1" dirty="0">
                <a:solidFill>
                  <a:srgbClr val="1E1E1E"/>
                </a:solidFill>
                <a:latin typeface="Montserrat"/>
                <a:sym typeface="Montserrat"/>
              </a:rPr>
              <a:t>?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— Na Fase 1,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cada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família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foi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tratada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como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grupo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homogêneo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. Mas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podem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existir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subgrupos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dentro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uma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mesma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família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com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padrões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degradação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distintos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ou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produtos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famílias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diferentes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que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se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degradam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de forma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semelhante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.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Além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disso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famílias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com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poucos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produtos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(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maioria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dos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casos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)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poderiam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ser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agrupadas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em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clusters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maiores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mais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</a:rPr>
              <a:t>modeláveis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</a:rPr>
              <a:t>.</a:t>
            </a:r>
            <a:endParaRPr lang="pt-BR" sz="2200" dirty="0">
              <a:latin typeface="Montserrat"/>
            </a:endParaRPr>
          </a:p>
          <a:p>
            <a:pPr marL="0" marR="0" lvl="0" indent="0" algn="l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ct val="130009"/>
              </a:lnSpc>
            </a:pPr>
            <a:r>
              <a:rPr lang="en-US" sz="2200" b="1" dirty="0">
                <a:solidFill>
                  <a:srgbClr val="1E1E1E"/>
                </a:solidFill>
                <a:latin typeface="Montserrat"/>
              </a:rPr>
              <a:t>Como?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—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Representar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cada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produto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pelos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descritores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temporais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já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calculados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(slope,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delta_total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margens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ao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limite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),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aplicar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algoritmos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agrupamento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(K-Means, DBSCAN,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hierárquico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) 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visualizar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com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redução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dimensional (UMAP).</a:t>
            </a:r>
          </a:p>
          <a:p>
            <a:pPr algn="just">
              <a:lnSpc>
                <a:spcPct val="130009"/>
              </a:lnSpc>
            </a:pPr>
            <a:endParaRPr lang="en-US" sz="2200" dirty="0">
              <a:solidFill>
                <a:srgbClr val="1E1E1E"/>
              </a:solidFill>
              <a:latin typeface="Montserrat"/>
            </a:endParaRPr>
          </a:p>
          <a:p>
            <a:pPr algn="just">
              <a:lnSpc>
                <a:spcPct val="130009"/>
              </a:lnSpc>
            </a:pPr>
            <a:r>
              <a:rPr lang="en-US" sz="2200" b="1" dirty="0">
                <a:solidFill>
                  <a:srgbClr val="1E1E1E"/>
                </a:solidFill>
                <a:latin typeface="Montserrat"/>
              </a:rPr>
              <a:t>O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</a:rPr>
              <a:t>que</a:t>
            </a:r>
            <a:r>
              <a:rPr lang="en-US" sz="2200" b="1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</a:rPr>
              <a:t>entrega</a:t>
            </a:r>
            <a:r>
              <a:rPr lang="en-US" sz="2200" b="1" dirty="0">
                <a:solidFill>
                  <a:srgbClr val="1E1E1E"/>
                </a:solidFill>
                <a:latin typeface="Montserrat"/>
              </a:rPr>
              <a:t>?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— Mapa visual de clusters,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identificação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produtos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anômalos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dentro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suas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famílias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subsídio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para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refinar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modelos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preditivos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(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treinar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por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cluster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em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vez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por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família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).</a:t>
            </a:r>
            <a:endParaRPr lang="en-US" sz="2200" dirty="0">
              <a:latin typeface="Montserrat"/>
            </a:endParaRPr>
          </a:p>
        </p:txBody>
      </p:sp>
      <p:sp>
        <p:nvSpPr>
          <p:cNvPr id="135" name="Google Shape;135;p17">
            <a:extLst>
              <a:ext uri="{FF2B5EF4-FFF2-40B4-BE49-F238E27FC236}">
                <a16:creationId xmlns:a16="http://schemas.microsoft.com/office/drawing/2014/main" id="{B2C3BD25-ADAE-C45E-96C9-6280F8472507}"/>
              </a:ext>
            </a:extLst>
          </p:cNvPr>
          <p:cNvSpPr/>
          <p:nvPr/>
        </p:nvSpPr>
        <p:spPr>
          <a:xfrm rot="10800000">
            <a:off x="15776753" y="0"/>
            <a:ext cx="2813682" cy="2809180"/>
          </a:xfrm>
          <a:custGeom>
            <a:avLst/>
            <a:gdLst/>
            <a:ahLst/>
            <a:cxnLst/>
            <a:rect l="l" t="t" r="r" b="b"/>
            <a:pathLst>
              <a:path w="6350000" h="6339840" extrusionOk="0">
                <a:moveTo>
                  <a:pt x="6350000" y="6339840"/>
                </a:moveTo>
                <a:lnTo>
                  <a:pt x="0" y="6339840"/>
                </a:lnTo>
                <a:lnTo>
                  <a:pt x="0" y="0"/>
                </a:lnTo>
                <a:lnTo>
                  <a:pt x="6350000" y="6339840"/>
                </a:lnTo>
                <a:close/>
              </a:path>
            </a:pathLst>
          </a:custGeom>
          <a:solidFill>
            <a:srgbClr val="2279D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6" name="Google Shape;136;p17">
            <a:extLst>
              <a:ext uri="{FF2B5EF4-FFF2-40B4-BE49-F238E27FC236}">
                <a16:creationId xmlns:a16="http://schemas.microsoft.com/office/drawing/2014/main" id="{804816F1-C674-76FD-0006-0D31B650EAF4}"/>
              </a:ext>
            </a:extLst>
          </p:cNvPr>
          <p:cNvSpPr/>
          <p:nvPr/>
        </p:nvSpPr>
        <p:spPr>
          <a:xfrm>
            <a:off x="479115" y="9295846"/>
            <a:ext cx="3185382" cy="793450"/>
          </a:xfrm>
          <a:custGeom>
            <a:avLst/>
            <a:gdLst/>
            <a:ahLst/>
            <a:cxnLst/>
            <a:rect l="l" t="t" r="r" b="b"/>
            <a:pathLst>
              <a:path w="3185382" h="793450" extrusionOk="0">
                <a:moveTo>
                  <a:pt x="0" y="0"/>
                </a:moveTo>
                <a:lnTo>
                  <a:pt x="3185383" y="0"/>
                </a:lnTo>
                <a:lnTo>
                  <a:pt x="3185383" y="793450"/>
                </a:lnTo>
                <a:lnTo>
                  <a:pt x="0" y="793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Google Shape;133;p17">
            <a:extLst>
              <a:ext uri="{FF2B5EF4-FFF2-40B4-BE49-F238E27FC236}">
                <a16:creationId xmlns:a16="http://schemas.microsoft.com/office/drawing/2014/main" id="{A55CF382-0F2A-54A2-A1B7-051A33E1A318}"/>
              </a:ext>
            </a:extLst>
          </p:cNvPr>
          <p:cNvSpPr txBox="1"/>
          <p:nvPr/>
        </p:nvSpPr>
        <p:spPr>
          <a:xfrm>
            <a:off x="1028700" y="1028700"/>
            <a:ext cx="162306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b="1" dirty="0" err="1">
                <a:solidFill>
                  <a:srgbClr val="1E1E1E"/>
                </a:solidFill>
                <a:latin typeface="Montserrat"/>
                <a:sym typeface="Montserrat"/>
              </a:rPr>
              <a:t>Clusterização</a:t>
            </a:r>
            <a:r>
              <a:rPr lang="en-US" sz="5400" b="1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5400" b="1" dirty="0" err="1">
                <a:solidFill>
                  <a:srgbClr val="1E1E1E"/>
                </a:solidFill>
                <a:latin typeface="Montserrat"/>
                <a:sym typeface="Montserrat"/>
              </a:rPr>
              <a:t>Perfis</a:t>
            </a:r>
            <a:r>
              <a:rPr lang="en-US" sz="5400" b="1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5400" b="1" dirty="0" err="1">
                <a:solidFill>
                  <a:srgbClr val="1E1E1E"/>
                </a:solidFill>
                <a:latin typeface="Montserrat"/>
                <a:sym typeface="Montserrat"/>
              </a:rPr>
              <a:t>Degradação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67728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954617" y="407329"/>
            <a:ext cx="162306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buSzPts val="7625"/>
            </a:pPr>
            <a:r>
              <a:rPr lang="en-US" sz="5400" b="1" dirty="0" err="1">
                <a:solidFill>
                  <a:srgbClr val="1E1E1E"/>
                </a:solidFill>
                <a:latin typeface="Montserrat"/>
                <a:sym typeface="Montserrat"/>
              </a:rPr>
              <a:t>Simulação</a:t>
            </a:r>
            <a:r>
              <a:rPr lang="en-US" sz="2800" b="1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5400" b="1" dirty="0">
                <a:solidFill>
                  <a:srgbClr val="1E1E1E"/>
                </a:solidFill>
                <a:latin typeface="Montserrat"/>
                <a:sym typeface="Montserrat"/>
              </a:rPr>
              <a:t>do </a:t>
            </a:r>
            <a:r>
              <a:rPr lang="en-US" sz="5400" b="1" dirty="0" err="1">
                <a:solidFill>
                  <a:srgbClr val="1E1E1E"/>
                </a:solidFill>
                <a:latin typeface="Montserrat"/>
                <a:sym typeface="Montserrat"/>
              </a:rPr>
              <a:t>comportamento</a:t>
            </a:r>
            <a:r>
              <a:rPr lang="en-US" sz="5400" b="1" dirty="0">
                <a:solidFill>
                  <a:srgbClr val="1E1E1E"/>
                </a:solidFill>
                <a:latin typeface="Montserrat"/>
                <a:sym typeface="Montserrat"/>
              </a:rPr>
              <a:t> com base no </a:t>
            </a:r>
            <a:r>
              <a:rPr lang="en-US" sz="5400" b="1" dirty="0" err="1">
                <a:solidFill>
                  <a:srgbClr val="1E1E1E"/>
                </a:solidFill>
                <a:latin typeface="Montserrat"/>
                <a:sym typeface="Montserrat"/>
              </a:rPr>
              <a:t>tipo</a:t>
            </a:r>
            <a:r>
              <a:rPr lang="en-US" sz="5400" b="1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5400" b="1" dirty="0" err="1">
                <a:solidFill>
                  <a:srgbClr val="1E1E1E"/>
                </a:solidFill>
                <a:latin typeface="Montserrat"/>
                <a:sym typeface="Montserrat"/>
              </a:rPr>
              <a:t>armazenamento</a:t>
            </a:r>
            <a:endParaRPr lang="pt-BR" sz="5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954617" y="2672690"/>
            <a:ext cx="16230600" cy="616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30009"/>
              </a:lnSpc>
              <a:buSzPts val="2999"/>
            </a:pPr>
            <a:r>
              <a:rPr lang="en-US" sz="2200" b="1" dirty="0">
                <a:solidFill>
                  <a:srgbClr val="1E1E1E"/>
                </a:solidFill>
                <a:latin typeface="Montserrat"/>
                <a:sym typeface="Montserrat"/>
              </a:rPr>
              <a:t>Analise e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sym typeface="Montserrat"/>
              </a:rPr>
              <a:t>entendimento</a:t>
            </a:r>
            <a:r>
              <a:rPr lang="en-US" sz="2200" b="1" dirty="0">
                <a:solidFill>
                  <a:srgbClr val="1E1E1E"/>
                </a:solidFill>
                <a:latin typeface="Montserrat"/>
                <a:sym typeface="Montserrat"/>
              </a:rPr>
              <a:t> da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sym typeface="Montserrat"/>
              </a:rPr>
              <a:t>variedade</a:t>
            </a:r>
            <a:r>
              <a:rPr lang="en-US" sz="2200" b="1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sym typeface="Montserrat"/>
              </a:rPr>
              <a:t>tipos</a:t>
            </a:r>
            <a:r>
              <a:rPr lang="en-US" sz="2200" b="1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sym typeface="Montserrat"/>
              </a:rPr>
              <a:t>armazenamento</a:t>
            </a:r>
            <a:r>
              <a:rPr lang="en-US" sz="2200" b="1" dirty="0">
                <a:solidFill>
                  <a:srgbClr val="1E1E1E"/>
                </a:solidFill>
                <a:latin typeface="Montserrat"/>
                <a:sym typeface="Montserrat"/>
              </a:rPr>
              <a:t> -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sym typeface="Montserrat"/>
              </a:rPr>
              <a:t>m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apear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as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diferentes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condições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armazenamento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praticadas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(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temperatura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umidade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exposição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à luz,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tipo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embalagem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) 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avaliar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como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cada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condição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se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distribui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entre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os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produtos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famílias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portfólio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.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Identificar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se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existem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produtos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submetidos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condições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atípicas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que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possam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explicar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comportamentos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degradação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fora do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padrão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observado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sym typeface="Montserrat"/>
              </a:rPr>
              <a:t>na</a:t>
            </a:r>
            <a:r>
              <a:rPr lang="en-US" sz="2200" dirty="0">
                <a:solidFill>
                  <a:srgbClr val="1E1E1E"/>
                </a:solidFill>
                <a:latin typeface="Montserrat"/>
                <a:sym typeface="Montserrat"/>
              </a:rPr>
              <a:t> Fase 1;</a:t>
            </a:r>
            <a:endParaRPr lang="en-US" sz="2200" b="1" i="0" u="none" strike="noStrike" cap="none" dirty="0">
              <a:solidFill>
                <a:srgbClr val="1E1E1E"/>
              </a:solidFill>
              <a:latin typeface="Montserrat"/>
            </a:endParaRPr>
          </a:p>
          <a:p>
            <a:pPr marL="0" marR="0" lvl="0" indent="0" algn="just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endParaRPr sz="2200" b="1" i="0" u="none" strike="noStrike" cap="none" dirty="0">
              <a:solidFill>
                <a:srgbClr val="1E1E1E"/>
              </a:solidFill>
              <a:latin typeface="Montserrat"/>
              <a:ea typeface="Montserrat"/>
              <a:cs typeface="Montserrat"/>
            </a:endParaRPr>
          </a:p>
          <a:p>
            <a:pPr algn="just">
              <a:lnSpc>
                <a:spcPct val="130009"/>
              </a:lnSpc>
              <a:buSzPts val="2599"/>
            </a:pP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Quantificar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o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impacto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em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cada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ensaio</a:t>
            </a:r>
            <a:r>
              <a:rPr lang="en-US" sz="2200" b="1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/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produto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—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comparar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trajetória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dos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ensaios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físico-químicos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entre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produtos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armazenados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em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condições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distintas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isolando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efeito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do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armazenamento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sobre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velocidade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e 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direção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da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degradação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.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Avaliar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se o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tipo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armazenamento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modula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relação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entre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ensaios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e o shelf life, 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por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exemplo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, se 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importância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Água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%p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muda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dependendo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da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condição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estocagem</a:t>
            </a:r>
            <a:r>
              <a:rPr lang="en-US" sz="2200" dirty="0">
                <a:solidFill>
                  <a:srgbClr val="1E1E1E"/>
                </a:solidFill>
                <a:latin typeface="Montserrat"/>
                <a:ea typeface="Montserrat"/>
                <a:sym typeface="Montserrat"/>
              </a:rPr>
              <a:t>;</a:t>
            </a:r>
            <a:endParaRPr lang="en-US" sz="2200" dirty="0">
              <a:solidFill>
                <a:srgbClr val="1E1E1E"/>
              </a:solidFill>
              <a:latin typeface="Montserrat"/>
              <a:ea typeface="Montserrat"/>
            </a:endParaRPr>
          </a:p>
          <a:p>
            <a:pPr algn="just">
              <a:lnSpc>
                <a:spcPct val="130009"/>
              </a:lnSpc>
              <a:buSzPts val="2599"/>
            </a:pPr>
            <a:endParaRPr lang="en-US" sz="2200" dirty="0">
              <a:solidFill>
                <a:srgbClr val="1E1E1E"/>
              </a:solidFill>
              <a:latin typeface="Montserrat"/>
            </a:endParaRPr>
          </a:p>
          <a:p>
            <a:pPr algn="just">
              <a:lnSpc>
                <a:spcPct val="130009"/>
              </a:lnSpc>
            </a:pPr>
            <a:r>
              <a:rPr lang="en-US" sz="2200" b="1" dirty="0" err="1">
                <a:solidFill>
                  <a:srgbClr val="1E1E1E"/>
                </a:solidFill>
                <a:latin typeface="Montserrat"/>
              </a:rPr>
              <a:t>Incorporar</a:t>
            </a:r>
            <a:r>
              <a:rPr lang="en-US" sz="2200" b="1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</a:rPr>
              <a:t>ao</a:t>
            </a:r>
            <a:r>
              <a:rPr lang="en-US" sz="2200" b="1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</a:rPr>
              <a:t>modelo</a:t>
            </a:r>
            <a:r>
              <a:rPr lang="en-US" sz="2200" b="1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b="1" dirty="0" err="1">
                <a:solidFill>
                  <a:srgbClr val="1E1E1E"/>
                </a:solidFill>
                <a:latin typeface="Montserrat"/>
              </a:rPr>
              <a:t>como</a:t>
            </a:r>
            <a:r>
              <a:rPr lang="en-US" sz="2200" b="1" dirty="0">
                <a:solidFill>
                  <a:srgbClr val="1E1E1E"/>
                </a:solidFill>
                <a:latin typeface="Montserrat"/>
              </a:rPr>
              <a:t> feature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—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codificar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o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tipo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armazenamento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como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variável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de entrada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nos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modelos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de ML,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seja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como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feature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categórica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direta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como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variável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interação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com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descritores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temporais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,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ou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como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peso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que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pondera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a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contribuição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cada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ensaio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.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Avaliar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se a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inclusão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dessa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informação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melhora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a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capacidade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preditiva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e se altera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rankings de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importância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obtidos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</a:t>
            </a:r>
            <a:r>
              <a:rPr lang="en-US" sz="2200" dirty="0" err="1">
                <a:solidFill>
                  <a:srgbClr val="1E1E1E"/>
                </a:solidFill>
                <a:latin typeface="Montserrat"/>
              </a:rPr>
              <a:t>na</a:t>
            </a:r>
            <a:r>
              <a:rPr lang="en-US" sz="2200" dirty="0">
                <a:solidFill>
                  <a:srgbClr val="1E1E1E"/>
                </a:solidFill>
                <a:latin typeface="Montserrat"/>
              </a:rPr>
              <a:t> Fase 1.</a:t>
            </a:r>
            <a:endParaRPr lang="en-US" sz="2200" dirty="0">
              <a:latin typeface="Montserrat"/>
            </a:endParaRPr>
          </a:p>
        </p:txBody>
      </p:sp>
      <p:sp>
        <p:nvSpPr>
          <p:cNvPr id="135" name="Google Shape;135;p17"/>
          <p:cNvSpPr/>
          <p:nvPr/>
        </p:nvSpPr>
        <p:spPr>
          <a:xfrm rot="10800000">
            <a:off x="15776753" y="0"/>
            <a:ext cx="2813682" cy="2809180"/>
          </a:xfrm>
          <a:custGeom>
            <a:avLst/>
            <a:gdLst/>
            <a:ahLst/>
            <a:cxnLst/>
            <a:rect l="l" t="t" r="r" b="b"/>
            <a:pathLst>
              <a:path w="6350000" h="6339840" extrusionOk="0">
                <a:moveTo>
                  <a:pt x="6350000" y="6339840"/>
                </a:moveTo>
                <a:lnTo>
                  <a:pt x="0" y="6339840"/>
                </a:lnTo>
                <a:lnTo>
                  <a:pt x="0" y="0"/>
                </a:lnTo>
                <a:lnTo>
                  <a:pt x="6350000" y="6339840"/>
                </a:lnTo>
                <a:close/>
              </a:path>
            </a:pathLst>
          </a:custGeom>
          <a:solidFill>
            <a:srgbClr val="2279D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6" name="Google Shape;136;p17"/>
          <p:cNvSpPr/>
          <p:nvPr/>
        </p:nvSpPr>
        <p:spPr>
          <a:xfrm>
            <a:off x="506329" y="9105346"/>
            <a:ext cx="3185382" cy="793450"/>
          </a:xfrm>
          <a:custGeom>
            <a:avLst/>
            <a:gdLst/>
            <a:ahLst/>
            <a:cxnLst/>
            <a:rect l="l" t="t" r="r" b="b"/>
            <a:pathLst>
              <a:path w="3185382" h="793450" extrusionOk="0">
                <a:moveTo>
                  <a:pt x="0" y="0"/>
                </a:moveTo>
                <a:lnTo>
                  <a:pt x="3185383" y="0"/>
                </a:lnTo>
                <a:lnTo>
                  <a:pt x="3185383" y="793450"/>
                </a:lnTo>
                <a:lnTo>
                  <a:pt x="0" y="793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52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/>
        </p:nvSpPr>
        <p:spPr>
          <a:xfrm>
            <a:off x="986394" y="3028725"/>
            <a:ext cx="16622183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pt-BR" sz="2200" b="1" dirty="0">
                <a:latin typeface="Montserrat" panose="00000500000000000000" pitchFamily="2" charset="0"/>
              </a:rPr>
              <a:t>Predição e explicabilidade</a:t>
            </a:r>
            <a:endParaRPr lang="pt-BR" sz="2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Predizer o </a:t>
            </a:r>
            <a:r>
              <a:rPr lang="pt-BR" sz="2200" i="1" dirty="0" err="1">
                <a:latin typeface="Montserrat" panose="00000500000000000000" pitchFamily="2" charset="0"/>
              </a:rPr>
              <a:t>Shelf</a:t>
            </a:r>
            <a:r>
              <a:rPr lang="pt-BR" sz="2200" i="1" dirty="0">
                <a:latin typeface="Montserrat" panose="00000500000000000000" pitchFamily="2" charset="0"/>
              </a:rPr>
              <a:t> Life</a:t>
            </a:r>
            <a:r>
              <a:rPr lang="pt-BR" sz="2200" dirty="0">
                <a:latin typeface="Montserrat" panose="00000500000000000000" pitchFamily="2" charset="0"/>
              </a:rPr>
              <a:t> dos produtos com maior precisão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Identificar a </a:t>
            </a:r>
            <a:r>
              <a:rPr lang="pt-BR" sz="2200" b="1" dirty="0">
                <a:latin typeface="Montserrat" panose="00000500000000000000" pitchFamily="2" charset="0"/>
              </a:rPr>
              <a:t>importância de cada ensaio</a:t>
            </a:r>
            <a:r>
              <a:rPr lang="pt-BR" sz="2200" dirty="0">
                <a:latin typeface="Montserrat" panose="00000500000000000000" pitchFamily="2" charset="0"/>
              </a:rPr>
              <a:t> na degradação </a:t>
            </a:r>
          </a:p>
          <a:p>
            <a:endParaRPr lang="pt-BR" sz="2200" dirty="0">
              <a:latin typeface="Montserrat" panose="00000500000000000000" pitchFamily="2" charset="0"/>
            </a:endParaRPr>
          </a:p>
          <a:p>
            <a:r>
              <a:rPr lang="pt-BR" sz="2200" b="1" dirty="0">
                <a:latin typeface="Montserrat" panose="00000500000000000000" pitchFamily="2" charset="0"/>
              </a:rPr>
              <a:t>Qualidade dos dados e impacto no modelo</a:t>
            </a:r>
            <a:endParaRPr lang="pt-BR" sz="2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Avaliar quais ensaios </a:t>
            </a:r>
            <a:r>
              <a:rPr lang="pt-BR" sz="2200" b="1" dirty="0">
                <a:latin typeface="Montserrat" panose="00000500000000000000" pitchFamily="2" charset="0"/>
              </a:rPr>
              <a:t>prejudicam o desempenho do modelo</a:t>
            </a:r>
            <a:r>
              <a:rPr lang="pt-BR" sz="2200" dirty="0">
                <a:latin typeface="Montserrat" panose="00000500000000000000" pitchFamily="2" charset="0"/>
              </a:rPr>
              <a:t> (</a:t>
            </a:r>
            <a:r>
              <a:rPr lang="pt-BR" sz="2200" dirty="0" err="1">
                <a:latin typeface="Montserrat" panose="00000500000000000000" pitchFamily="2" charset="0"/>
              </a:rPr>
              <a:t>ex</a:t>
            </a:r>
            <a:r>
              <a:rPr lang="pt-BR" sz="2200" dirty="0">
                <a:latin typeface="Montserrat" panose="00000500000000000000" pitchFamily="2" charset="0"/>
              </a:rPr>
              <a:t>: Água)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Refinar o conjunto de variáveis para melhorar a robustez </a:t>
            </a:r>
          </a:p>
          <a:p>
            <a:endParaRPr lang="pt-BR" sz="2200" dirty="0">
              <a:latin typeface="Montserrat" panose="00000500000000000000" pitchFamily="2" charset="0"/>
            </a:endParaRPr>
          </a:p>
          <a:p>
            <a:r>
              <a:rPr lang="pt-BR" sz="2200" b="1" dirty="0">
                <a:latin typeface="Montserrat" panose="00000500000000000000" pitchFamily="2" charset="0"/>
              </a:rPr>
              <a:t>Integração com estrutura molecular (SMILES)</a:t>
            </a:r>
            <a:endParaRPr lang="pt-BR" sz="2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Investigar a relação entre </a:t>
            </a:r>
            <a:r>
              <a:rPr lang="pt-BR" sz="2200" b="1" dirty="0">
                <a:latin typeface="Montserrat" panose="00000500000000000000" pitchFamily="2" charset="0"/>
              </a:rPr>
              <a:t>estrutura química e </a:t>
            </a:r>
            <a:r>
              <a:rPr lang="pt-BR" sz="2200" b="1" dirty="0" err="1">
                <a:latin typeface="Montserrat" panose="00000500000000000000" pitchFamily="2" charset="0"/>
              </a:rPr>
              <a:t>Shelf</a:t>
            </a:r>
            <a:r>
              <a:rPr lang="pt-BR" sz="2200" b="1" dirty="0">
                <a:latin typeface="Montserrat" panose="00000500000000000000" pitchFamily="2" charset="0"/>
              </a:rPr>
              <a:t> Life</a:t>
            </a:r>
            <a:r>
              <a:rPr lang="pt-BR" sz="2200" dirty="0">
                <a:latin typeface="Montserrat" panose="00000500000000000000" pitchFamily="2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Avaliar influência na </a:t>
            </a:r>
            <a:r>
              <a:rPr lang="pt-BR" sz="2200" b="1" dirty="0">
                <a:latin typeface="Montserrat" panose="00000500000000000000" pitchFamily="2" charset="0"/>
              </a:rPr>
              <a:t>formação de famílias de produtos</a:t>
            </a:r>
            <a:r>
              <a:rPr lang="pt-BR" sz="2200" dirty="0">
                <a:latin typeface="Montserrat" panose="00000500000000000000" pitchFamily="2" charset="0"/>
              </a:rPr>
              <a:t> </a:t>
            </a:r>
          </a:p>
          <a:p>
            <a:endParaRPr lang="pt-BR" sz="2200" dirty="0">
              <a:latin typeface="Montserrat" panose="00000500000000000000" pitchFamily="2" charset="0"/>
            </a:endParaRPr>
          </a:p>
          <a:p>
            <a:r>
              <a:rPr lang="pt-BR" sz="2200" b="1" dirty="0">
                <a:latin typeface="Montserrat" panose="00000500000000000000" pitchFamily="2" charset="0"/>
              </a:rPr>
              <a:t>Aplicação em novos produtos (valor estratégico)</a:t>
            </a:r>
            <a:endParaRPr lang="pt-BR" sz="2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Predizer </a:t>
            </a:r>
            <a:r>
              <a:rPr lang="pt-BR" sz="2200" i="1" dirty="0" err="1">
                <a:latin typeface="Montserrat" panose="00000500000000000000" pitchFamily="2" charset="0"/>
              </a:rPr>
              <a:t>Shelf</a:t>
            </a:r>
            <a:r>
              <a:rPr lang="pt-BR" sz="2200" i="1" dirty="0">
                <a:latin typeface="Montserrat" panose="00000500000000000000" pitchFamily="2" charset="0"/>
              </a:rPr>
              <a:t> Life</a:t>
            </a:r>
            <a:r>
              <a:rPr lang="pt-BR" sz="2200" dirty="0">
                <a:latin typeface="Montserrat" panose="00000500000000000000" pitchFamily="2" charset="0"/>
              </a:rPr>
              <a:t> de </a:t>
            </a:r>
            <a:r>
              <a:rPr lang="pt-BR" sz="2200" b="1" dirty="0">
                <a:latin typeface="Montserrat" panose="00000500000000000000" pitchFamily="2" charset="0"/>
              </a:rPr>
              <a:t>novos produtos ainda não testados</a:t>
            </a:r>
            <a:r>
              <a:rPr lang="pt-BR" sz="2200" dirty="0">
                <a:latin typeface="Montserrat" panose="00000500000000000000" pitchFamily="2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Identificar </a:t>
            </a:r>
            <a:r>
              <a:rPr lang="pt-BR" sz="2200" b="1" dirty="0">
                <a:latin typeface="Montserrat" panose="00000500000000000000" pitchFamily="2" charset="0"/>
              </a:rPr>
              <a:t>ensaios críticos esperados</a:t>
            </a:r>
            <a:r>
              <a:rPr lang="pt-BR" sz="2200" dirty="0">
                <a:latin typeface="Montserrat" panose="00000500000000000000" pitchFamily="2" charset="0"/>
              </a:rPr>
              <a:t> a partir do SMILES </a:t>
            </a:r>
          </a:p>
        </p:txBody>
      </p:sp>
      <p:sp>
        <p:nvSpPr>
          <p:cNvPr id="254" name="Google Shape;254;p31"/>
          <p:cNvSpPr/>
          <p:nvPr/>
        </p:nvSpPr>
        <p:spPr>
          <a:xfrm rot="10800000">
            <a:off x="15780560" y="3801"/>
            <a:ext cx="2809875" cy="2805379"/>
          </a:xfrm>
          <a:custGeom>
            <a:avLst/>
            <a:gdLst/>
            <a:ahLst/>
            <a:cxnLst/>
            <a:rect l="l" t="t" r="r" b="b"/>
            <a:pathLst>
              <a:path w="6350000" h="6339840" extrusionOk="0">
                <a:moveTo>
                  <a:pt x="6350000" y="6339840"/>
                </a:moveTo>
                <a:lnTo>
                  <a:pt x="0" y="6339840"/>
                </a:lnTo>
                <a:lnTo>
                  <a:pt x="0" y="0"/>
                </a:lnTo>
                <a:lnTo>
                  <a:pt x="6350000" y="6339840"/>
                </a:lnTo>
                <a:close/>
              </a:path>
            </a:pathLst>
          </a:custGeom>
          <a:solidFill>
            <a:srgbClr val="2279D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5" name="Google Shape;255;p31"/>
          <p:cNvSpPr/>
          <p:nvPr/>
        </p:nvSpPr>
        <p:spPr>
          <a:xfrm>
            <a:off x="538079" y="9359346"/>
            <a:ext cx="3185382" cy="793450"/>
          </a:xfrm>
          <a:custGeom>
            <a:avLst/>
            <a:gdLst/>
            <a:ahLst/>
            <a:cxnLst/>
            <a:rect l="l" t="t" r="r" b="b"/>
            <a:pathLst>
              <a:path w="3185382" h="793450" extrusionOk="0">
                <a:moveTo>
                  <a:pt x="0" y="0"/>
                </a:moveTo>
                <a:lnTo>
                  <a:pt x="3185383" y="0"/>
                </a:lnTo>
                <a:lnTo>
                  <a:pt x="3185383" y="793450"/>
                </a:lnTo>
                <a:lnTo>
                  <a:pt x="0" y="793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Google Shape;133;p17">
            <a:extLst>
              <a:ext uri="{FF2B5EF4-FFF2-40B4-BE49-F238E27FC236}">
                <a16:creationId xmlns:a16="http://schemas.microsoft.com/office/drawing/2014/main" id="{729F61F4-0C29-EFC5-D347-A4A064ABACAC}"/>
              </a:ext>
            </a:extLst>
          </p:cNvPr>
          <p:cNvSpPr txBox="1"/>
          <p:nvPr/>
        </p:nvSpPr>
        <p:spPr>
          <a:xfrm>
            <a:off x="986394" y="416403"/>
            <a:ext cx="162306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buSzPts val="7625"/>
            </a:pPr>
            <a:r>
              <a:rPr lang="pt-BR" sz="5400" b="1" dirty="0">
                <a:latin typeface="Montserrat" panose="00000500000000000000" pitchFamily="2" charset="0"/>
              </a:rPr>
              <a:t>Demandas analíticas para evolução do modelo de </a:t>
            </a:r>
            <a:r>
              <a:rPr lang="pt-BR" sz="5400" b="1" dirty="0" err="1">
                <a:latin typeface="Montserrat" panose="00000500000000000000" pitchFamily="2" charset="0"/>
              </a:rPr>
              <a:t>shelf</a:t>
            </a:r>
            <a:r>
              <a:rPr lang="pt-BR" sz="5400" b="1" dirty="0">
                <a:latin typeface="Montserrat" panose="00000500000000000000" pitchFamily="2" charset="0"/>
              </a:rPr>
              <a:t> </a:t>
            </a:r>
            <a:r>
              <a:rPr lang="pt-BR" sz="5400" b="1" dirty="0" err="1">
                <a:latin typeface="Montserrat" panose="00000500000000000000" pitchFamily="2" charset="0"/>
              </a:rPr>
              <a:t>life</a:t>
            </a:r>
            <a:endParaRPr sz="5400" b="1" i="0" u="none" strike="noStrike" cap="none" dirty="0">
              <a:solidFill>
                <a:srgbClr val="000000"/>
              </a:solidFill>
              <a:latin typeface="Montserrat" panose="00000500000000000000" pitchFamily="2" charset="0"/>
              <a:sym typeface="Arial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E08879C-7EC6-E28C-3619-C3C994827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9778" y="3552837"/>
            <a:ext cx="4367216" cy="40323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6703D5B9-1BA3-0350-A8C9-7EDF872E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>
            <a:extLst>
              <a:ext uri="{FF2B5EF4-FFF2-40B4-BE49-F238E27FC236}">
                <a16:creationId xmlns:a16="http://schemas.microsoft.com/office/drawing/2014/main" id="{AC00BFD2-4E1D-CB0F-1A57-5C6C91332476}"/>
              </a:ext>
            </a:extLst>
          </p:cNvPr>
          <p:cNvSpPr txBox="1"/>
          <p:nvPr/>
        </p:nvSpPr>
        <p:spPr>
          <a:xfrm>
            <a:off x="1028700" y="207670"/>
            <a:ext cx="16230600" cy="337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25"/>
              <a:buFont typeface="Arial"/>
              <a:buNone/>
            </a:pPr>
            <a:r>
              <a:rPr lang="en-US" sz="5325" b="1" i="0" u="none" strike="noStrike" cap="none" dirty="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QML</a:t>
            </a:r>
            <a:endParaRPr sz="5325" b="1" i="0" u="none" strike="noStrike" cap="none" dirty="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25"/>
              <a:buFont typeface="Arial"/>
              <a:buNone/>
            </a:pPr>
            <a:endParaRPr sz="5325" b="1" i="0" u="none" strike="noStrike" cap="none" dirty="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18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25"/>
              <a:buFont typeface="Arial"/>
              <a:buNone/>
            </a:pPr>
            <a:endParaRPr sz="5325" b="1" i="0" u="none" strike="noStrike" cap="none" dirty="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31">
            <a:extLst>
              <a:ext uri="{FF2B5EF4-FFF2-40B4-BE49-F238E27FC236}">
                <a16:creationId xmlns:a16="http://schemas.microsoft.com/office/drawing/2014/main" id="{4F74CA0E-305D-7886-EFB0-57B0060427E7}"/>
              </a:ext>
            </a:extLst>
          </p:cNvPr>
          <p:cNvSpPr txBox="1"/>
          <p:nvPr/>
        </p:nvSpPr>
        <p:spPr>
          <a:xfrm>
            <a:off x="1028700" y="1336007"/>
            <a:ext cx="16622183" cy="3721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9"/>
              </a:lnSpc>
              <a:buSzPts val="2999"/>
            </a:pPr>
            <a:r>
              <a:rPr lang="pt-BR" sz="2950" b="1" dirty="0">
                <a:latin typeface="Montserrat" panose="00000500000000000000" pitchFamily="2" charset="0"/>
              </a:rPr>
              <a:t>QML na solução: Abordagem Híbrida</a:t>
            </a:r>
          </a:p>
          <a:p>
            <a:pPr marL="342900" lvl="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Uso de modelos híbridos clássico-quântico</a:t>
            </a:r>
          </a:p>
          <a:p>
            <a:pPr marL="342900" lvl="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O componente quântico atua </a:t>
            </a:r>
            <a:r>
              <a:rPr lang="pt-BR" sz="2200" b="1" dirty="0">
                <a:latin typeface="Montserrat" panose="00000500000000000000" pitchFamily="2" charset="0"/>
              </a:rPr>
              <a:t>na codificação e transformação das features (Quantum Feature </a:t>
            </a:r>
            <a:r>
              <a:rPr lang="pt-BR" sz="2200" b="1" dirty="0" err="1">
                <a:latin typeface="Montserrat" panose="00000500000000000000" pitchFamily="2" charset="0"/>
              </a:rPr>
              <a:t>Selection</a:t>
            </a:r>
            <a:r>
              <a:rPr lang="pt-BR" sz="2200" b="1" dirty="0">
                <a:latin typeface="Montserrat" panose="00000500000000000000" pitchFamily="2" charset="0"/>
              </a:rPr>
              <a:t>)</a:t>
            </a:r>
          </a:p>
          <a:p>
            <a:pPr lvl="0">
              <a:lnSpc>
                <a:spcPct val="130009"/>
              </a:lnSpc>
              <a:buSzPts val="2999"/>
            </a:pPr>
            <a:endParaRPr lang="pt-BR" sz="2200" b="1" dirty="0">
              <a:latin typeface="Montserrat" panose="00000500000000000000" pitchFamily="2" charset="0"/>
            </a:endParaRPr>
          </a:p>
          <a:p>
            <a:pPr lvl="0">
              <a:lnSpc>
                <a:spcPct val="130009"/>
              </a:lnSpc>
              <a:buSzPts val="2999"/>
            </a:pPr>
            <a:r>
              <a:rPr lang="pt-BR" sz="2200" b="1" dirty="0">
                <a:latin typeface="Montserrat" panose="00000500000000000000" pitchFamily="2" charset="0"/>
              </a:rPr>
              <a:t>Diferencial:</a:t>
            </a:r>
          </a:p>
          <a:p>
            <a:pPr marL="342900" lvl="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Captura de relações não-lineares complexas</a:t>
            </a:r>
          </a:p>
          <a:p>
            <a:pPr marL="342900" lvl="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Potencial ganho em separabilidade dos dados</a:t>
            </a:r>
          </a:p>
          <a:p>
            <a:pPr marL="342900" lvl="0" indent="-342900">
              <a:lnSpc>
                <a:spcPct val="130009"/>
              </a:lnSpc>
              <a:buSzPts val="2999"/>
              <a:buFont typeface="Arial" panose="020B0604020202020204" pitchFamily="34" charset="0"/>
              <a:buChar char="•"/>
            </a:pPr>
            <a:r>
              <a:rPr lang="pt-BR" sz="2200" dirty="0">
                <a:latin typeface="Montserrat" panose="00000500000000000000" pitchFamily="2" charset="0"/>
              </a:rPr>
              <a:t>Integração direta com pipeline atual (baixo risco)</a:t>
            </a:r>
          </a:p>
        </p:txBody>
      </p:sp>
      <p:sp>
        <p:nvSpPr>
          <p:cNvPr id="254" name="Google Shape;254;p31">
            <a:extLst>
              <a:ext uri="{FF2B5EF4-FFF2-40B4-BE49-F238E27FC236}">
                <a16:creationId xmlns:a16="http://schemas.microsoft.com/office/drawing/2014/main" id="{AD559F63-A60E-EBB0-85F5-02B3A6E13097}"/>
              </a:ext>
            </a:extLst>
          </p:cNvPr>
          <p:cNvSpPr/>
          <p:nvPr/>
        </p:nvSpPr>
        <p:spPr>
          <a:xfrm rot="10800000">
            <a:off x="15780560" y="3801"/>
            <a:ext cx="2809875" cy="2805379"/>
          </a:xfrm>
          <a:custGeom>
            <a:avLst/>
            <a:gdLst/>
            <a:ahLst/>
            <a:cxnLst/>
            <a:rect l="l" t="t" r="r" b="b"/>
            <a:pathLst>
              <a:path w="6350000" h="6339840" extrusionOk="0">
                <a:moveTo>
                  <a:pt x="6350000" y="6339840"/>
                </a:moveTo>
                <a:lnTo>
                  <a:pt x="0" y="6339840"/>
                </a:lnTo>
                <a:lnTo>
                  <a:pt x="0" y="0"/>
                </a:lnTo>
                <a:lnTo>
                  <a:pt x="6350000" y="6339840"/>
                </a:lnTo>
                <a:close/>
              </a:path>
            </a:pathLst>
          </a:custGeom>
          <a:solidFill>
            <a:srgbClr val="2279D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5" name="Google Shape;255;p31">
            <a:extLst>
              <a:ext uri="{FF2B5EF4-FFF2-40B4-BE49-F238E27FC236}">
                <a16:creationId xmlns:a16="http://schemas.microsoft.com/office/drawing/2014/main" id="{6D560F2D-359E-F9EF-1EB8-1DB258F670C9}"/>
              </a:ext>
            </a:extLst>
          </p:cNvPr>
          <p:cNvSpPr/>
          <p:nvPr/>
        </p:nvSpPr>
        <p:spPr>
          <a:xfrm>
            <a:off x="538079" y="9359346"/>
            <a:ext cx="3185382" cy="793450"/>
          </a:xfrm>
          <a:custGeom>
            <a:avLst/>
            <a:gdLst/>
            <a:ahLst/>
            <a:cxnLst/>
            <a:rect l="l" t="t" r="r" b="b"/>
            <a:pathLst>
              <a:path w="3185382" h="793450" extrusionOk="0">
                <a:moveTo>
                  <a:pt x="0" y="0"/>
                </a:moveTo>
                <a:lnTo>
                  <a:pt x="3185383" y="0"/>
                </a:lnTo>
                <a:lnTo>
                  <a:pt x="3185383" y="793450"/>
                </a:lnTo>
                <a:lnTo>
                  <a:pt x="0" y="793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3B8682E-8753-EE31-F8E1-78985091A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154" y="5695898"/>
            <a:ext cx="12769692" cy="294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4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A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/>
          <p:nvPr/>
        </p:nvSpPr>
        <p:spPr>
          <a:xfrm>
            <a:off x="0" y="6790472"/>
            <a:ext cx="3508375" cy="3502762"/>
          </a:xfrm>
          <a:custGeom>
            <a:avLst/>
            <a:gdLst/>
            <a:ahLst/>
            <a:cxnLst/>
            <a:rect l="l" t="t" r="r" b="b"/>
            <a:pathLst>
              <a:path w="6350000" h="6339840" extrusionOk="0">
                <a:moveTo>
                  <a:pt x="6350000" y="6339840"/>
                </a:moveTo>
                <a:lnTo>
                  <a:pt x="0" y="6339840"/>
                </a:lnTo>
                <a:lnTo>
                  <a:pt x="0" y="0"/>
                </a:lnTo>
                <a:lnTo>
                  <a:pt x="6350000" y="6339840"/>
                </a:lnTo>
                <a:close/>
              </a:path>
            </a:pathLst>
          </a:custGeom>
          <a:solidFill>
            <a:srgbClr val="1DA1F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3" name="Google Shape;273;p33"/>
          <p:cNvSpPr txBox="1"/>
          <p:nvPr/>
        </p:nvSpPr>
        <p:spPr>
          <a:xfrm>
            <a:off x="3506400" y="4081671"/>
            <a:ext cx="11275200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89"/>
              <a:buFont typeface="Arial"/>
              <a:buNone/>
            </a:pPr>
            <a:r>
              <a:rPr lang="en-US" sz="88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Obrigado</a:t>
            </a:r>
            <a:r>
              <a:rPr lang="en-US" sz="115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p33"/>
          <p:cNvGrpSpPr/>
          <p:nvPr/>
        </p:nvGrpSpPr>
        <p:grpSpPr>
          <a:xfrm>
            <a:off x="11838940" y="-895577"/>
            <a:ext cx="8080666" cy="6499374"/>
            <a:chOff x="-2049" y="0"/>
            <a:chExt cx="10774221" cy="8665831"/>
          </a:xfrm>
        </p:grpSpPr>
        <p:sp>
          <p:nvSpPr>
            <p:cNvPr id="275" name="Google Shape;275;p33"/>
            <p:cNvSpPr/>
            <p:nvPr/>
          </p:nvSpPr>
          <p:spPr>
            <a:xfrm rot="2700000">
              <a:off x="5007299" y="5225373"/>
              <a:ext cx="6137388" cy="1488558"/>
            </a:xfrm>
            <a:custGeom>
              <a:avLst/>
              <a:gdLst/>
              <a:ahLst/>
              <a:cxnLst/>
              <a:rect l="l" t="t" r="r" b="b"/>
              <a:pathLst>
                <a:path w="26301750" h="6379210" extrusionOk="0">
                  <a:moveTo>
                    <a:pt x="19619477" y="0"/>
                  </a:moveTo>
                  <a:lnTo>
                    <a:pt x="7607643" y="0"/>
                  </a:lnTo>
                  <a:lnTo>
                    <a:pt x="6706792" y="7620"/>
                  </a:lnTo>
                  <a:lnTo>
                    <a:pt x="0" y="6379210"/>
                  </a:lnTo>
                  <a:lnTo>
                    <a:pt x="19655841" y="6379210"/>
                  </a:lnTo>
                  <a:lnTo>
                    <a:pt x="26301750" y="0"/>
                  </a:lnTo>
                  <a:close/>
                </a:path>
              </a:pathLst>
            </a:custGeom>
            <a:solidFill>
              <a:srgbClr val="1DA1F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" name="Google Shape;276;p33"/>
            <p:cNvSpPr/>
            <p:nvPr/>
          </p:nvSpPr>
          <p:spPr>
            <a:xfrm rot="2700000">
              <a:off x="3943417" y="2044023"/>
              <a:ext cx="6137388" cy="1488558"/>
            </a:xfrm>
            <a:custGeom>
              <a:avLst/>
              <a:gdLst/>
              <a:ahLst/>
              <a:cxnLst/>
              <a:rect l="l" t="t" r="r" b="b"/>
              <a:pathLst>
                <a:path w="26301750" h="6379210" extrusionOk="0">
                  <a:moveTo>
                    <a:pt x="19619477" y="0"/>
                  </a:moveTo>
                  <a:lnTo>
                    <a:pt x="7607643" y="0"/>
                  </a:lnTo>
                  <a:lnTo>
                    <a:pt x="6706792" y="7620"/>
                  </a:lnTo>
                  <a:lnTo>
                    <a:pt x="0" y="6379210"/>
                  </a:lnTo>
                  <a:lnTo>
                    <a:pt x="19655841" y="6379210"/>
                  </a:lnTo>
                  <a:lnTo>
                    <a:pt x="26301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7" name="Google Shape;277;p33"/>
            <p:cNvSpPr/>
            <p:nvPr/>
          </p:nvSpPr>
          <p:spPr>
            <a:xfrm rot="2700000">
              <a:off x="-374564" y="1951900"/>
              <a:ext cx="6137388" cy="1488558"/>
            </a:xfrm>
            <a:custGeom>
              <a:avLst/>
              <a:gdLst/>
              <a:ahLst/>
              <a:cxnLst/>
              <a:rect l="l" t="t" r="r" b="b"/>
              <a:pathLst>
                <a:path w="26301750" h="6379210" extrusionOk="0">
                  <a:moveTo>
                    <a:pt x="19619477" y="0"/>
                  </a:moveTo>
                  <a:lnTo>
                    <a:pt x="7607643" y="0"/>
                  </a:lnTo>
                  <a:lnTo>
                    <a:pt x="6706792" y="7620"/>
                  </a:lnTo>
                  <a:lnTo>
                    <a:pt x="0" y="6379210"/>
                  </a:lnTo>
                  <a:lnTo>
                    <a:pt x="19655841" y="6379210"/>
                  </a:lnTo>
                  <a:lnTo>
                    <a:pt x="26301750" y="0"/>
                  </a:lnTo>
                  <a:close/>
                </a:path>
              </a:pathLst>
            </a:custGeom>
            <a:solidFill>
              <a:srgbClr val="1DA1F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78" name="Google Shape;278;p33"/>
          <p:cNvSpPr/>
          <p:nvPr/>
        </p:nvSpPr>
        <p:spPr>
          <a:xfrm>
            <a:off x="12740509" y="8541853"/>
            <a:ext cx="4955520" cy="1090214"/>
          </a:xfrm>
          <a:custGeom>
            <a:avLst/>
            <a:gdLst/>
            <a:ahLst/>
            <a:cxnLst/>
            <a:rect l="l" t="t" r="r" b="b"/>
            <a:pathLst>
              <a:path w="4955520" h="1090214" extrusionOk="0">
                <a:moveTo>
                  <a:pt x="0" y="0"/>
                </a:moveTo>
                <a:lnTo>
                  <a:pt x="4955520" y="0"/>
                </a:lnTo>
                <a:lnTo>
                  <a:pt x="4955520" y="1090215"/>
                </a:lnTo>
                <a:lnTo>
                  <a:pt x="0" y="10902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Google Shape;93;p13"/>
          <p:cNvSpPr txBox="1"/>
          <p:nvPr/>
        </p:nvSpPr>
        <p:spPr>
          <a:xfrm>
            <a:off x="1028700" y="1028700"/>
            <a:ext cx="11275080" cy="149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89"/>
              <a:buFont typeface="Arial"/>
              <a:buNone/>
            </a:pPr>
            <a:r>
              <a:rPr lang="pt-BR" sz="8089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ShelfLife</a:t>
            </a:r>
            <a:r>
              <a:rPr lang="pt-BR" sz="8089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Next </a:t>
            </a:r>
            <a:r>
              <a:rPr lang="pt-BR" sz="8089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Level</a:t>
            </a:r>
            <a:r>
              <a:rPr lang="pt-BR" sz="8089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pt-BR" sz="14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59F0BC17759D42B4A183F0A6C2BEFE" ma:contentTypeVersion="7" ma:contentTypeDescription="Crie um novo documento." ma:contentTypeScope="" ma:versionID="e49e8cf25b12a27a03e9286c970a227e">
  <xsd:schema xmlns:xsd="http://www.w3.org/2001/XMLSchema" xmlns:xs="http://www.w3.org/2001/XMLSchema" xmlns:p="http://schemas.microsoft.com/office/2006/metadata/properties" xmlns:ns2="480b06a1-06e8-4899-ba95-8803f6bf6974" targetNamespace="http://schemas.microsoft.com/office/2006/metadata/properties" ma:root="true" ma:fieldsID="dd3f0432210c5d49cac51c0acaa19396" ns2:_="">
    <xsd:import namespace="480b06a1-06e8-4899-ba95-8803f6bf69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0b06a1-06e8-4899-ba95-8803f6bf69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EDFA07-B232-4312-B948-A28A351370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1B6147-C563-483B-AF48-82B4BA70B2E5}">
  <ds:schemaRefs>
    <ds:schemaRef ds:uri="480b06a1-06e8-4899-ba95-8803f6bf69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21C4E5-E1ED-4BEC-8AAF-AE88251135C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817</Words>
  <Application>Microsoft Office PowerPoint</Application>
  <PresentationFormat>Personalizar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Montserrat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Urbano Clemente Xavier das Chagas</dc:creator>
  <cp:lastModifiedBy>ARTHUR DANTAS BENEVIDES COSTA</cp:lastModifiedBy>
  <cp:revision>2</cp:revision>
  <dcterms:modified xsi:type="dcterms:W3CDTF">2026-04-14T21:16:28Z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0x010100F759F0BC17759D42B4A183F0A6C2BEFE</vt:lpwstr>
  </property>
</Properties>
</file>